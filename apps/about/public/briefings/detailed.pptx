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cde9db52984df7" /><Relationship Type="http://schemas.openxmlformats.org/officeDocument/2006/relationships/extended-properties" Target="/docProps/app.xml" Id="Rf95e61c215f54d01" /><Relationship Type="http://schemas.openxmlformats.org/officeDocument/2006/relationships/officeDocument" Target="/ppt/presentation.xml" Id="R4d13ea4a9abf44c0" /></Relationships>
</file>

<file path=ppt/presentation.xml><?xml version="1.0" encoding="utf-8"?>
<p:presentation xmlns:p="http://schemas.openxmlformats.org/presentationml/2006/main">
  <p:sldMasterIdLst>
    <p:sldMasterId xmlns:r="http://schemas.openxmlformats.org/officeDocument/2006/relationships" id="2147483648" r:id="Re944dc31679045c5"/>
  </p:sldMasterIdLst>
  <p:notesMasterIdLst>
    <p:notesMasterId xmlns:r="http://schemas.openxmlformats.org/officeDocument/2006/relationships" r:id="Rc58a2bb543b14c7f"/>
  </p:notesMasterIdLst>
  <p:sldIdLst>
    <p:sldId xmlns:r="http://schemas.openxmlformats.org/officeDocument/2006/relationships" id="256" r:id="R6735a13901c44299"/>
    <p:sldId xmlns:r="http://schemas.openxmlformats.org/officeDocument/2006/relationships" id="257" r:id="R9548e21b3ec54ad1"/>
    <p:sldId xmlns:r="http://schemas.openxmlformats.org/officeDocument/2006/relationships" id="258" r:id="R6acef588172c45e6"/>
    <p:sldId xmlns:r="http://schemas.openxmlformats.org/officeDocument/2006/relationships" id="259" r:id="Rf5c8a5e1ebf045ab"/>
    <p:sldId xmlns:r="http://schemas.openxmlformats.org/officeDocument/2006/relationships" id="260" r:id="Rf218c7a52dea4d48"/>
    <p:sldId xmlns:r="http://schemas.openxmlformats.org/officeDocument/2006/relationships" id="261" r:id="R8538fa1474b1440b"/>
    <p:sldId xmlns:r="http://schemas.openxmlformats.org/officeDocument/2006/relationships" id="262" r:id="R4aff35547c874489"/>
    <p:sldId xmlns:r="http://schemas.openxmlformats.org/officeDocument/2006/relationships" id="263" r:id="Rf8be2dde811c41b1"/>
    <p:sldId xmlns:r="http://schemas.openxmlformats.org/officeDocument/2006/relationships" id="264" r:id="Ra09ddb8152a7415a"/>
    <p:sldId xmlns:r="http://schemas.openxmlformats.org/officeDocument/2006/relationships" id="265" r:id="R30544b082a004245"/>
    <p:sldId xmlns:r="http://schemas.openxmlformats.org/officeDocument/2006/relationships" id="266" r:id="Rc19caeaf7ab84701"/>
    <p:sldId xmlns:r="http://schemas.openxmlformats.org/officeDocument/2006/relationships" id="267" r:id="R1a93b5e35a474d6f"/>
    <p:sldId xmlns:r="http://schemas.openxmlformats.org/officeDocument/2006/relationships" id="268" r:id="Rdebed9b021d14475"/>
    <p:sldId xmlns:r="http://schemas.openxmlformats.org/officeDocument/2006/relationships" id="269" r:id="Rc96f9e6eb50443d2"/>
    <p:sldId xmlns:r="http://schemas.openxmlformats.org/officeDocument/2006/relationships" id="270" r:id="Rd25554d706c44d3e"/>
    <p:sldId xmlns:r="http://schemas.openxmlformats.org/officeDocument/2006/relationships" id="271" r:id="R0b5bf189d9e54495"/>
    <p:sldId xmlns:r="http://schemas.openxmlformats.org/officeDocument/2006/relationships" id="272" r:id="R22c822a0407041c4"/>
    <p:sldId xmlns:r="http://schemas.openxmlformats.org/officeDocument/2006/relationships" id="273" r:id="R540a4724b4d342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d252074c3c4b95" /><Relationship Type="http://schemas.openxmlformats.org/officeDocument/2006/relationships/slideMaster" Target="/ppt/slideMasters/slideMaster1.xml" Id="Re944dc31679045c5" /><Relationship Type="http://schemas.openxmlformats.org/officeDocument/2006/relationships/notesMaster" Target="/ppt/notesMasters/notesMaster1.xml" Id="Rc58a2bb543b14c7f" /><Relationship Type="http://schemas.openxmlformats.org/officeDocument/2006/relationships/presProps" Target="/ppt/presProps.xml" Id="Rb84fb14349014daa" /><Relationship Type="http://schemas.openxmlformats.org/officeDocument/2006/relationships/tableStyles" Target="/ppt/tableStyles.xml" Id="Rd0fb189d2c9e46a0" /><Relationship Type="http://schemas.openxmlformats.org/officeDocument/2006/relationships/slide" Target="/ppt/slides/slide1.xml" Id="R6735a13901c44299" /><Relationship Type="http://schemas.openxmlformats.org/officeDocument/2006/relationships/slide" Target="/ppt/slides/slide2.xml" Id="R9548e21b3ec54ad1" /><Relationship Type="http://schemas.openxmlformats.org/officeDocument/2006/relationships/slide" Target="/ppt/slides/slide3.xml" Id="R6acef588172c45e6" /><Relationship Type="http://schemas.openxmlformats.org/officeDocument/2006/relationships/slide" Target="/ppt/slides/slide4.xml" Id="Rf5c8a5e1ebf045ab" /><Relationship Type="http://schemas.openxmlformats.org/officeDocument/2006/relationships/slide" Target="/ppt/slides/slide5.xml" Id="Rf218c7a52dea4d48" /><Relationship Type="http://schemas.openxmlformats.org/officeDocument/2006/relationships/slide" Target="/ppt/slides/slide6.xml" Id="R8538fa1474b1440b" /><Relationship Type="http://schemas.openxmlformats.org/officeDocument/2006/relationships/slide" Target="/ppt/slides/slide7.xml" Id="R4aff35547c874489" /><Relationship Type="http://schemas.openxmlformats.org/officeDocument/2006/relationships/slide" Target="/ppt/slides/slide8.xml" Id="Rf8be2dde811c41b1" /><Relationship Type="http://schemas.openxmlformats.org/officeDocument/2006/relationships/slide" Target="/ppt/slides/slide9.xml" Id="Ra09ddb8152a7415a" /><Relationship Type="http://schemas.openxmlformats.org/officeDocument/2006/relationships/slide" Target="/ppt/slides/slide10.xml" Id="R30544b082a004245" /><Relationship Type="http://schemas.openxmlformats.org/officeDocument/2006/relationships/slide" Target="/ppt/slides/slide11.xml" Id="Rc19caeaf7ab84701" /><Relationship Type="http://schemas.openxmlformats.org/officeDocument/2006/relationships/slide" Target="/ppt/slides/slide12.xml" Id="R1a93b5e35a474d6f" /><Relationship Type="http://schemas.openxmlformats.org/officeDocument/2006/relationships/slide" Target="/ppt/slides/slide13.xml" Id="Rdebed9b021d14475" /><Relationship Type="http://schemas.openxmlformats.org/officeDocument/2006/relationships/slide" Target="/ppt/slides/slide14.xml" Id="Rc96f9e6eb50443d2" /><Relationship Type="http://schemas.openxmlformats.org/officeDocument/2006/relationships/slide" Target="/ppt/slides/slide15.xml" Id="Rd25554d706c44d3e" /><Relationship Type="http://schemas.openxmlformats.org/officeDocument/2006/relationships/slide" Target="/ppt/slides/slide16.xml" Id="R0b5bf189d9e54495" /><Relationship Type="http://schemas.openxmlformats.org/officeDocument/2006/relationships/slide" Target="/ppt/slides/slide17.xml" Id="R22c822a0407041c4" /><Relationship Type="http://schemas.openxmlformats.org/officeDocument/2006/relationships/slide" Target="/ppt/slides/slide18.xml" Id="R540a4724b4d342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d33ca6f5af4b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4f3784aac74622" /><Relationship Type="http://schemas.openxmlformats.org/officeDocument/2006/relationships/notesMaster" Target="/ppt/notesMasters/notesMaster1.xml" Id="Re05587ae14a94d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988b665d944933" /><Relationship Type="http://schemas.openxmlformats.org/officeDocument/2006/relationships/notesMaster" Target="/ppt/notesMasters/notesMaster1.xml" Id="Rcd592a24aaf049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5bb1702c024b75" /><Relationship Type="http://schemas.openxmlformats.org/officeDocument/2006/relationships/notesMaster" Target="/ppt/notesMasters/notesMaster1.xml" Id="R2977144338ba48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12b5b5036b402d" /><Relationship Type="http://schemas.openxmlformats.org/officeDocument/2006/relationships/notesMaster" Target="/ppt/notesMasters/notesMaster1.xml" Id="R2e810a8f95ab4f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b549ba89f04e58" /><Relationship Type="http://schemas.openxmlformats.org/officeDocument/2006/relationships/notesMaster" Target="/ppt/notesMasters/notesMaster1.xml" Id="R072948bd65d942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bffb12e8394a13" /><Relationship Type="http://schemas.openxmlformats.org/officeDocument/2006/relationships/notesMaster" Target="/ppt/notesMasters/notesMaster1.xml" Id="R6ce54dd49c4d40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4e33579c1c4cff" /><Relationship Type="http://schemas.openxmlformats.org/officeDocument/2006/relationships/notesMaster" Target="/ppt/notesMasters/notesMaster1.xml" Id="Ra6af1d2335bb40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8f7dc861fd40bf" /><Relationship Type="http://schemas.openxmlformats.org/officeDocument/2006/relationships/notesMaster" Target="/ppt/notesMasters/notesMaster1.xml" Id="Rf1dea0f422c241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5e36e74e5040a2" /><Relationship Type="http://schemas.openxmlformats.org/officeDocument/2006/relationships/notesMaster" Target="/ppt/notesMasters/notesMaster1.xml" Id="R17be49d660fb42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c9a509fdde4a9d" /><Relationship Type="http://schemas.openxmlformats.org/officeDocument/2006/relationships/notesMaster" Target="/ppt/notesMasters/notesMaster1.xml" Id="Rcc6d0ff49d8c4d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1bd314dd8943b9" /><Relationship Type="http://schemas.openxmlformats.org/officeDocument/2006/relationships/notesMaster" Target="/ppt/notesMasters/notesMaster1.xml" Id="R7fbbdf7b765648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cccf369dde4776" /><Relationship Type="http://schemas.openxmlformats.org/officeDocument/2006/relationships/notesMaster" Target="/ppt/notesMasters/notesMaster1.xml" Id="R07cb5cb1d4dc4c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ad3a4bc6854bff" /><Relationship Type="http://schemas.openxmlformats.org/officeDocument/2006/relationships/notesMaster" Target="/ppt/notesMasters/notesMaster1.xml" Id="R4e5bd4ab6568423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5c853e07444891" /><Relationship Type="http://schemas.openxmlformats.org/officeDocument/2006/relationships/notesMaster" Target="/ppt/notesMasters/notesMaster1.xml" Id="R3e9a1e1fbaa042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47872471f04125" /><Relationship Type="http://schemas.openxmlformats.org/officeDocument/2006/relationships/notesMaster" Target="/ppt/notesMasters/notesMaster1.xml" Id="Rbee1e8ef27af41c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4c5d96af674daf" /><Relationship Type="http://schemas.openxmlformats.org/officeDocument/2006/relationships/notesMaster" Target="/ppt/notesMasters/notesMaster1.xml" Id="R55606dacb05c46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641d9c856e4f34" /><Relationship Type="http://schemas.openxmlformats.org/officeDocument/2006/relationships/notesMaster" Target="/ppt/notesMasters/notesMaster1.xml" Id="R253ab147d64f4fd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be013e451640bb" /><Relationship Type="http://schemas.openxmlformats.org/officeDocument/2006/relationships/notesMaster" Target="/ppt/notesMasters/notesMaster1.xml" Id="R19bf39ce29a141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briefing supports a twenty-five to thirty minute discussion after the concept walkthrough. Choose supporting demonstrations according to the audience's questions. The coverage map identifies what the short demonstration leaves out. The source baseline is main 6b4f389, plus explicitly labelled unmerged Observatory work.</a:t>
            </a:r>
          </a:p>
          <a:p xmlns:a="http://schemas.openxmlformats.org/drawingml/2006/main">
            <a:r>
              <a:t/>
            </a:r>
          </a:p>
          <a:p xmlns:a="http://schemas.openxmlformats.org/drawingml/2006/main">
            <a:r>
              <a:t>Sources</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Open national decisions: https://github.com/sighmoan1/govuk-delegate-starter/blob/6b4f3895f246cfe9e274059c57e4dc1ea7989650/docs/DECISION_BACKLOG.md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Login authenticates Sam. Delegate records and checks authority. HMRC and council define operations and decide their domain outcomes. The external assistant plans and executes tasks. Observatory receives minimised research data and cannot alter source-service decisions. A government Orchestrate is a hypothetical separate product.</a:t>
            </a:r>
          </a:p>
          <a:p xmlns:a="http://schemas.openxmlformats.org/drawingml/2006/main">
            <a:r>
              <a:t/>
            </a:r>
          </a:p>
          <a:p xmlns:a="http://schemas.openxmlformats.org/drawingml/2006/main">
            <a:r>
              <a:t>Sources</a:t>
            </a:r>
          </a:p>
          <a:p xmlns:a="http://schemas.openxmlformats.org/drawingml/2006/main">
            <a:r>
              <a:t>Architecture and ownership: https://github.com/sighmoan1/govuk-delegate-starter/blob/6b4f3895f246cfe9e274059c57e4dc1ea7989650/docs/ARCHITECTURE.md</a:t>
            </a:r>
          </a:p>
          <a:p xmlns:a="http://schemas.openxmlformats.org/drawingml/2006/main">
            <a:r>
              <a:t>Independent council integration: https://github.com/sighmoan1/govuk-delegate-starter/blob/6b4f3895f246cfe9e274059c57e4dc1ea7989650/docs/SECOND_SERVICE.md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pinned catalogue labels and purpose. The purpose helps Sam recognise the request but grants no extra actions. Credentials identify the representative separately from Sam. Show a granted and an ungranted action with the same token so scope enforcement is observable.</a:t>
            </a:r>
          </a:p>
          <a:p xmlns:a="http://schemas.openxmlformats.org/drawingml/2006/main">
            <a:r>
              <a:t/>
            </a:r>
          </a:p>
          <a:p xmlns:a="http://schemas.openxmlformats.org/drawingml/2006/main">
            <a:r>
              <a:t>Sources</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Architecture and ownership: https://github.com/sighmoan1/govuk-delegate-starter/blob/6b4f3895f246cfe9e274059c57e4dc1ea7989650/docs/ARCHITECTURE.md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Publication uses the service's own credential. Identical content replays. Conflicting content for a version is refused. Catalogue updates do not enlarge old grants. The prototype adopts a bounded contract without asserting conformance to a national delegation standard. Governance and minimum assurance remain DB-09.</a:t>
            </a:r>
          </a:p>
          <a:p xmlns:a="http://schemas.openxmlformats.org/drawingml/2006/main">
            <a:r>
              <a:t/>
            </a:r>
          </a:p>
          <a:p xmlns:a="http://schemas.openxmlformats.org/drawingml/2006/main">
            <a:r>
              <a:t>Sources</a:t>
            </a:r>
          </a:p>
          <a:p xmlns:a="http://schemas.openxmlformats.org/drawingml/2006/main">
            <a:r>
              <a:t>Service-defined restrictions: https://github.com/sighmoan1/govuk-delegate-starter/blob/6b4f3895f246cfe9e274059c57e4dc1ea7989650/docs/MANDATE_CONSTRAINTS.md</a:t>
            </a:r>
          </a:p>
          <a:p xmlns:a="http://schemas.openxmlformats.org/drawingml/2006/main">
            <a:r>
              <a:t>Open national decisions: https://github.com/sighmoan1/govuk-delegate-starter/blob/6b4f3895f246cfe9e274059c57e4dc1ea7989650/docs/DECISION_BACKLOG.md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requested and selected tax-year values, then an incompatible-year refusal. Delegate validates structure, membership and chain intersections. HMRC checks the actual synthetic target year and its supported catalogue digest. Arbitrary natural-language conditions are not executable policy. Wider or incompatible restrictions fail closed.</a:t>
            </a:r>
          </a:p>
          <a:p xmlns:a="http://schemas.openxmlformats.org/drawingml/2006/main">
            <a:r>
              <a:t/>
            </a:r>
          </a:p>
          <a:p xmlns:a="http://schemas.openxmlformats.org/drawingml/2006/main">
            <a:r>
              <a:t>Sources</a:t>
            </a:r>
          </a:p>
          <a:p xmlns:a="http://schemas.openxmlformats.org/drawingml/2006/main">
            <a:r>
              <a:t>Service-defined restrictions: https://github.com/sighmoan1/govuk-delegate-starter/blob/6b4f3895f246cfe9e274059c57e4dc1ea7989650/docs/MANDATE_CONSTRAINTS.md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Identity here can mean registered client, operator or verified signer depending on the route. It is not a universal identity for an AI model or a guarantee of honest behaviour. Browser session binding, request-target binding and fresh signature checks prevent the tested substitution/replay cases. Production compromise response and provider identity taxonomy remain open.</a:t>
            </a:r>
          </a:p>
          <a:p xmlns:a="http://schemas.openxmlformats.org/drawingml/2006/main">
            <a:r>
              <a:t/>
            </a:r>
          </a:p>
          <a:p xmlns:a="http://schemas.openxmlformats.org/drawingml/2006/main">
            <a:r>
              <a:t>Sources</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Recorded combined validation and manual walkthrough: https://github.com/sighmoan1/govuk-delegate-starter/issues/90#issuecomment-6090819665</a:t>
            </a:r>
          </a:p>
          <a:p xmlns:a="http://schemas.openxmlformats.org/drawingml/2006/main">
            <a:r>
              <a:t>Open national decisions: https://github.com/sighmoan1/govuk-delegate-starter/blob/6b4f3895f246cfe9e274059c57e4dc1ea7989650/docs/DECISION_BACKLOG.md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child cannot add permissions or widen inherited restrictions. Depth is bounded. Demonstrate through existing API tests or a rehearsed subdelegation request, rather than imply the account has a complete sub-agent management UI. Assignment of liability across providers remains DB-10.</a:t>
            </a:r>
          </a:p>
          <a:p xmlns:a="http://schemas.openxmlformats.org/drawingml/2006/main">
            <a:r>
              <a:t/>
            </a:r>
          </a:p>
          <a:p xmlns:a="http://schemas.openxmlformats.org/drawingml/2006/main">
            <a:r>
              <a:t>Sources</a:t>
            </a:r>
          </a:p>
          <a:p xmlns:a="http://schemas.openxmlformats.org/drawingml/2006/main">
            <a:r>
              <a:t>Service-defined restrictions: https://github.com/sighmoan1/govuk-delegate-starter/blob/6b4f3895f246cfe9e274059c57e4dc1ea7989650/docs/MANDATE_CONSTRAINTS.md</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Open national decisions: https://github.com/sighmoan1/govuk-delegate-starter/blob/6b4f3895f246cfe9e274059c57e4dc1ea7989650/docs/DECISION_BACKLOG.md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 proposed synthetic refund-account change and the dedicated approval page. Checks do not consume approval. HMRC reserves it after admission, redeems it on completion and recovers abandoned leases. A different payload or key requires new approval. The default ten-minute deadline runs from proposal creation. The service must determine the lawful policy trigger for real actions.</a:t>
            </a:r>
          </a:p>
          <a:p xmlns:a="http://schemas.openxmlformats.org/drawingml/2006/main">
            <a:r>
              <a:t/>
            </a:r>
          </a:p>
          <a:p xmlns:a="http://schemas.openxmlformats.org/drawingml/2006/main">
            <a:r>
              <a:t>Sources</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Open national decisions: https://github.com/sighmoan1/govuk-delegate-starter/blob/6b4f3895f246cfe9e274059c57e4dc1ea7989650/docs/DECISION_BACKLOG.md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account detail to distinguish original selection from current permission. Old fixture grants have no fabricated historical snapshot. Triggers protect records against ordinary application mutation. A privileged database administrator remains outside that guarantee. Retention, administrative erasure and denied-read audit design need production owners.</a:t>
            </a:r>
          </a:p>
          <a:p xmlns:a="http://schemas.openxmlformats.org/drawingml/2006/main">
            <a:r>
              <a:t/>
            </a:r>
          </a:p>
          <a:p xmlns:a="http://schemas.openxmlformats.org/drawingml/2006/main">
            <a:r>
              <a:t>Sources</a:t>
            </a:r>
          </a:p>
          <a:p xmlns:a="http://schemas.openxmlformats.org/drawingml/2006/main">
            <a:r>
              <a:t>Original consent evidence and history: https://github.com/sighmoan1/govuk-delegate-starter/blob/6b4f3895f246cfe9e274059c57e4dc1ea7989650/docs/CONSENT_EVIDENCE.md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agent's confirmed_by_person assertion is its claim, not proof of agreement. A dispute removes the relevant capability. HMRC learns about the dispute on a later receipt-status read and reopens the question. There is no immediate push notification. On failure it exposes unavailable dispute verification. Demonstrate using a prepared question/answer fixture.</a:t>
            </a:r>
          </a:p>
          <a:p xmlns:a="http://schemas.openxmlformats.org/drawingml/2006/main">
            <a:r>
              <a:t/>
            </a:r>
          </a:p>
          <a:p xmlns:a="http://schemas.openxmlformats.org/drawingml/2006/main">
            <a:r>
              <a:t>Sources</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Demo B. Technical throttles identify retryable conditions and leave substantive entitlement unchanged in the prototype response. Authority checks spend no citizen allowance. Person-based service rules prevent multiplying a claim through agents or sessions. The particular claim rules and numeric limits are synthetic policy choices. A central authority check still consumes work even if HMRC later throttles.</a:t>
            </a:r>
          </a:p>
          <a:p xmlns:a="http://schemas.openxmlformats.org/drawingml/2006/main">
            <a:r>
              <a:t/>
            </a:r>
          </a:p>
          <a:p xmlns:a="http://schemas.openxmlformats.org/drawingml/2006/main">
            <a:r>
              <a:t>Sources</a:t>
            </a:r>
          </a:p>
          <a:p xmlns:a="http://schemas.openxmlformats.org/drawingml/2006/main">
            <a:r>
              <a:t>Swarm scenarios and accounting: https://github.com/sighmoan1/govuk-delegate-starter/blob/6b4f3895f246cfe9e274059c57e4dc1ea7989650/apps/about/src/app/swarm/page.tsx</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 means received, not approved. A receipt timestamp is not a legal filing date. Already accepted jobs continue under the prototype policy even if authority later ends. Queue fairness is by person, not provider. There is no global queue bound or outcome-report dead-letter mechanism. National resilience needs separate workload and outage evidence.</a:t>
            </a:r>
          </a:p>
          <a:p xmlns:a="http://schemas.openxmlformats.org/drawingml/2006/main">
            <a:r>
              <a:t/>
            </a:r>
          </a:p>
          <a:p xmlns:a="http://schemas.openxmlformats.org/drawingml/2006/main">
            <a:r>
              <a:t>Sources</a:t>
            </a:r>
          </a:p>
          <a:p xmlns:a="http://schemas.openxmlformats.org/drawingml/2006/main">
            <a:r>
              <a:t>Implemented behaviour at the briefing baseline: https://github.com/sighmoan1/govuk-delegate-starter/blob/6b4f3895f246cfe9e274059c57e4dc1ea7989650/docs/CURRENT_BEHAVIOUR.md</a:t>
            </a:r>
          </a:p>
          <a:p xmlns:a="http://schemas.openxmlformats.org/drawingml/2006/main">
            <a:r>
              <a:t>Swarm scenarios and accounting: https://github.com/sighmoan1/govuk-delegate-starter/blob/6b4f3895f246cfe9e274059c57e4dc1ea7989650/apps/about/src/app/swarm/page.tsx</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independent council permission, read CASE-SAM, reject CASE-OTHER, then revoke council access while retaining HMRC. Council is read-only and has no queue or write approval. No council-specific Delegate application code was required. Shared simulator subjects simplify identity matching. Production pairwise correlation remains issue 35.</a:t>
            </a:r>
          </a:p>
          <a:p xmlns:a="http://schemas.openxmlformats.org/drawingml/2006/main">
            <a:r>
              <a:t/>
            </a:r>
          </a:p>
          <a:p xmlns:a="http://schemas.openxmlformats.org/drawingml/2006/main">
            <a:r>
              <a:t>Sources</a:t>
            </a:r>
          </a:p>
          <a:p xmlns:a="http://schemas.openxmlformats.org/drawingml/2006/main">
            <a:r>
              <a:t>Independent council integration: https://github.com/sighmoan1/govuk-delegate-starter/blob/6b4f3895f246cfe9e274059c57e4dc1ea7989650/docs/SECOND_SERVICE.md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C: start in monitoring view, inspect a source event and its outcome. Sensor absence is visible. Research labels require separate evaluation access. Frozen evidence/configuration and append-only results support repeatable review in PR 109. The signature-observation stub cannot tell a hidden AI agent from a human browser. Training and signal ablation remain future work.</a:t>
            </a:r>
          </a:p>
          <a:p xmlns:a="http://schemas.openxmlformats.org/drawingml/2006/main">
            <a:r>
              <a:t/>
            </a:r>
          </a:p>
          <a:p xmlns:a="http://schemas.openxmlformats.org/drawingml/2006/main">
            <a:r>
              <a:t>Sources</a:t>
            </a:r>
          </a:p>
          <a:p xmlns:a="http://schemas.openxmlformats.org/drawingml/2006/main">
            <a:r>
              <a:t>Observatory dashboard, PR 110, unmerged at preparation: https://github.com/sighmoan1/govuk-delegate-starter/pull/110</a:t>
            </a:r>
          </a:p>
          <a:p xmlns:a="http://schemas.openxmlformats.org/drawingml/2006/main">
            <a:r>
              <a:t>Blind classifier contract, PR 109, unmerged at preparation: https://github.com/sighmoan1/govuk-delegate-starter/pull/109</a:t>
            </a:r>
          </a:p>
          <a:p xmlns:a="http://schemas.openxmlformats.org/drawingml/2006/main">
            <a:r>
              <a:t>Protected execution ledger: https://github.com/sighmoan1/govuk-delegate-starter/blob/6b4f3895f246cfe9e274059c57e4dc1ea7989650/docs/observatory/GROUND_TRUTH.md</a:t>
            </a:r>
          </a:p>
          <a:p xmlns:a="http://schemas.openxmlformats.org/drawingml/2006/main">
            <a:r>
              <a:t>Real vendor validation still outstanding, issue 68: https://github.com/sighmoan1/govuk-delegate-starter/issues/68</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Tom describes one tester and a small account sample. We should compare equivalent agents, tools and routes. More regression checks establish software coverage, while agent generalisation requires diverse real runs. Multi-signal improvements remain a testable proposal. Correlated weak clues may add little.</a:t>
            </a:r>
          </a:p>
          <a:p xmlns:a="http://schemas.openxmlformats.org/drawingml/2006/main">
            <a:r>
              <a:t/>
            </a:r>
          </a:p>
          <a:p xmlns:a="http://schemas.openxmlformats.org/drawingml/2006/main">
            <a:r>
              <a:t>Sources</a:t>
            </a:r>
          </a:p>
          <a:p xmlns:a="http://schemas.openxmlformats.org/drawingml/2006/main">
            <a:r>
              <a:t>Tom Loosemore: How Agents Show Up, 9 October 2026: https://loosemore.com/2026/10/09/how-agents-show-up-what-muse-and-other-agents-reveal-when-they-use-whenisbins/</a:t>
            </a:r>
          </a:p>
          <a:p xmlns:a="http://schemas.openxmlformats.org/drawingml/2006/main">
            <a:r>
              <a:t>Blind classifier contract, PR 109, unmerged at preparation: https://github.com/sighmoan1/govuk-delegate-starter/pull/109</a:t>
            </a:r>
          </a:p>
          <a:p xmlns:a="http://schemas.openxmlformats.org/drawingml/2006/main">
            <a:r>
              <a:t>Existing exploratory route observations: https://github.com/sighmoan1/govuk-delegate-starter/blob/6b4f3895f246cfe9e274059c57e4dc1ea7989650/apps/about/src/app/which-route/page.tsx</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prototype implementation from national commitment. The current lookup offers straightforward revocation semantics but creates an availability dependency. Federated records could preserve existing departmental authority, while requiring issuer trust, outage semantics and identity matching. Shared catalogue syntax does not settle semantic governance. Request service and platform owner input before selecting a production model.</a:t>
            </a:r>
          </a:p>
          <a:p xmlns:a="http://schemas.openxmlformats.org/drawingml/2006/main">
            <a:r>
              <a:t/>
            </a:r>
          </a:p>
          <a:p xmlns:a="http://schemas.openxmlformats.org/drawingml/2006/main">
            <a:r>
              <a:t>Sources</a:t>
            </a:r>
          </a:p>
          <a:p xmlns:a="http://schemas.openxmlformats.org/drawingml/2006/main">
            <a:r>
              <a:t>Open national decisions: https://github.com/sighmoan1/govuk-delegate-starter/blob/6b4f3895f246cfe9e274059c57e4dc1ea7989650/docs/DECISION_BACKLOG.md</a:t>
            </a:r>
          </a:p>
          <a:p xmlns:a="http://schemas.openxmlformats.org/drawingml/2006/main">
            <a:r>
              <a:t>Architecture and ownership: https://github.com/sighmoan1/govuk-delegate-starter/blob/6b4f3895f246cfe9e274059c57e4dc1ea7989650/docs/ARCHITECTURE.md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hypothesis predicts many well-behaved agents use Delegate and reduce observation burden. Measure adoption and residual work together. Include incompatible tools and authorised misuse. Compare an equally capable service-local delegation route. Establish approval/redress, legal recognition, retention and responsible owners before any real-person consequential action. The pilot proposal is unapproved, and the 500-case corpus does not yet exist.</a:t>
            </a:r>
          </a:p>
          <a:p xmlns:a="http://schemas.openxmlformats.org/drawingml/2006/main">
            <a:r>
              <a:t/>
            </a:r>
          </a:p>
          <a:p xmlns:a="http://schemas.openxmlformats.org/drawingml/2006/main">
            <a:r>
              <a:t>Sources</a:t>
            </a:r>
          </a:p>
          <a:p xmlns:a="http://schemas.openxmlformats.org/drawingml/2006/main">
            <a:r>
              <a:t>Participant pilot proposal, PR 108, awaiting approval: https://github.com/sighmoan1/govuk-delegate-starter/pull/108</a:t>
            </a:r>
          </a:p>
          <a:p xmlns:a="http://schemas.openxmlformats.org/drawingml/2006/main">
            <a:r>
              <a:t>Recorded E2 comparison and preserved raw records: https://github.com/sighmoan1/govuk-delegate-starter/blob/6b4f3895f246cfe9e274059c57e4dc1ea7989650/docs/evidence/RUN-20261009-E2-01.md</a:t>
            </a:r>
          </a:p>
          <a:p xmlns:a="http://schemas.openxmlformats.org/drawingml/2006/main">
            <a:r>
              <a:t>Open national decisions: https://github.com/sighmoan1/govuk-delegate-starter/blob/6b4f3895f246cfe9e274059c57e4dc1ea7989650/docs/DECISION_BACKLOG.md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specific examples and owners. Capture disagreements as open questions with evidence needed and a trigger for revisiting. Do not turn audience interest into acceptance of the prototype's national legal, security or architecture positions. Pair the discussion with a limited next experiment.</a:t>
            </a:r>
          </a:p>
          <a:p xmlns:a="http://schemas.openxmlformats.org/drawingml/2006/main">
            <a:r>
              <a:t/>
            </a:r>
          </a:p>
          <a:p xmlns:a="http://schemas.openxmlformats.org/drawingml/2006/main">
            <a:r>
              <a:t>Sources</a:t>
            </a:r>
          </a:p>
          <a:p xmlns:a="http://schemas.openxmlformats.org/drawingml/2006/main">
            <a:r>
              <a:t>Open national decisions: https://github.com/sighmoan1/govuk-delegate-starter/blob/6b4f3895f246cfe9e274059c57e4dc1ea7989650/docs/DECISION_BACKLOG.md</a:t>
            </a:r>
          </a:p>
          <a:p xmlns:a="http://schemas.openxmlformats.org/drawingml/2006/main">
            <a:r>
              <a:t/>
            </a:r>
          </a:p>
          <a:p xmlns:a="http://schemas.openxmlformats.org/drawingml/2006/main">
            <a:r>
              <a:t>Prepared 10 October 2026. Main baseline 6b4f3895f246cfe9e274059c57e4dc1ea7989650. Observatory PRs 109–110 unmerged at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941c66cefd41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4c74d70d5e45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5d7bd7fad44c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1a5a3cc2f149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3352b04ee542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3f5dc254ed44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C17EAC-16B1-496A-9E2B-F5A5D78A72D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481D1A-3FB3-49DB-9E46-E0C264C15E1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88597B4-1F4B-4EF1-9263-BD11AB294B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E637B2-8FE5-4B79-8796-B2EC10C951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4A2870-568C-4A4F-9267-54F3B05E27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E48DD3-7149-4B60-9D7B-1C180421E9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FF1EB6-6213-4085-8ECE-E06E71342D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64070F4-D796-444D-A60E-61E786013C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24F260-5D6D-40FB-9E70-2BDF1BAA91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B493F8-F97E-4F21-B2F1-2EBF467D93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0c8672ecca47ed" /><Relationship Type="http://schemas.openxmlformats.org/officeDocument/2006/relationships/slideLayout" Target="/ppt/slideLayouts/slideLayout1.xml" Id="R567989f058414752" /><Relationship Type="http://schemas.openxmlformats.org/officeDocument/2006/relationships/slideLayout" Target="/ppt/slideLayouts/slideLayout2.xml" Id="R0acd1aab72aa44d1" /><Relationship Type="http://schemas.openxmlformats.org/officeDocument/2006/relationships/slideLayout" Target="/ppt/slideLayouts/slideLayout3.xml" Id="Rb4bff0f103bf4ff5" /><Relationship Type="http://schemas.openxmlformats.org/officeDocument/2006/relationships/slideLayout" Target="/ppt/slideLayouts/slideLayout4.xml" Id="R9635061548ec48db" /><Relationship Type="http://schemas.openxmlformats.org/officeDocument/2006/relationships/slideLayout" Target="/ppt/slideLayouts/slideLayout5.xml" Id="Rd60479e84459466a" /><Relationship Type="http://schemas.openxmlformats.org/officeDocument/2006/relationships/slideLayout" Target="/ppt/slideLayouts/slideLayout6.xml" Id="Ra8c98c72729447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7989f058414752"/>
    <p:sldLayoutId xmlns:r="http://schemas.openxmlformats.org/officeDocument/2006/relationships" id="2147483650" r:id="R0acd1aab72aa44d1"/>
    <p:sldLayoutId xmlns:r="http://schemas.openxmlformats.org/officeDocument/2006/relationships" id="2147483651" r:id="Rb4bff0f103bf4ff5"/>
    <p:sldLayoutId xmlns:r="http://schemas.openxmlformats.org/officeDocument/2006/relationships" id="2147483652" r:id="R9635061548ec48db"/>
    <p:sldLayoutId xmlns:r="http://schemas.openxmlformats.org/officeDocument/2006/relationships" id="2147483653" r:id="Rd60479e84459466a"/>
    <p:sldLayoutId xmlns:r="http://schemas.openxmlformats.org/officeDocument/2006/relationships" id="2147483654" r:id="Ra8c98c72729447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e8b88d6a294f9b" /><Relationship Type="http://schemas.openxmlformats.org/officeDocument/2006/relationships/notesSlide" Target="/ppt/notesSlides/notesSlide1.xml" Id="R546fa751015241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acadca03614d86" /><Relationship Type="http://schemas.openxmlformats.org/officeDocument/2006/relationships/notesSlide" Target="/ppt/notesSlides/notesSlide2.xml" Id="Re4ead2d69ef047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837c94b61c48e8" /><Relationship Type="http://schemas.openxmlformats.org/officeDocument/2006/relationships/notesSlide" Target="/ppt/notesSlides/notesSlide3.xml" Id="R4279fdbdbdd140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ae3813b69f4986" /><Relationship Type="http://schemas.openxmlformats.org/officeDocument/2006/relationships/notesSlide" Target="/ppt/notesSlides/notesSlide4.xml" Id="Re7fc3f5021b446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500aabd774c4002" /><Relationship Type="http://schemas.openxmlformats.org/officeDocument/2006/relationships/notesSlide" Target="/ppt/notesSlides/notesSlide5.xml" Id="Raa8f7dd00b4942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13157eca634fa2" /><Relationship Type="http://schemas.openxmlformats.org/officeDocument/2006/relationships/notesSlide" Target="/ppt/notesSlides/notesSlide6.xml" Id="R7718736508c049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d37039b223340e8" /><Relationship Type="http://schemas.openxmlformats.org/officeDocument/2006/relationships/notesSlide" Target="/ppt/notesSlides/notesSlide7.xml" Id="Ra40b345e70fb44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6e0bca1457e461e" /><Relationship Type="http://schemas.openxmlformats.org/officeDocument/2006/relationships/notesSlide" Target="/ppt/notesSlides/notesSlide8.xml" Id="R6c46a1f407cd44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96c0367824a4395" /><Relationship Type="http://schemas.openxmlformats.org/officeDocument/2006/relationships/notesSlide" Target="/ppt/notesSlides/notesSlide9.xml" Id="R3d32b81bac3149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86ad1509bb74d8d" /><Relationship Type="http://schemas.openxmlformats.org/officeDocument/2006/relationships/notesSlide" Target="/ppt/notesSlides/notesSlide10.xml" Id="R2052ca5c377f48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0f8ded71ef84d23" /><Relationship Type="http://schemas.openxmlformats.org/officeDocument/2006/relationships/notesSlide" Target="/ppt/notesSlides/notesSlide11.xml" Id="Rc458435e67a740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d21ce0c608849ac" /><Relationship Type="http://schemas.openxmlformats.org/officeDocument/2006/relationships/notesSlide" Target="/ppt/notesSlides/notesSlide12.xml" Id="R67b44ac656b64e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a0fad80417349f1" /><Relationship Type="http://schemas.openxmlformats.org/officeDocument/2006/relationships/notesSlide" Target="/ppt/notesSlides/notesSlide13.xml" Id="R2dd70221476940c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f1057b5ed1b48f6" /><Relationship Type="http://schemas.openxmlformats.org/officeDocument/2006/relationships/notesSlide" Target="/ppt/notesSlides/notesSlide14.xml" Id="R9d607a61e08a4d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482017598464dff" /><Relationship Type="http://schemas.openxmlformats.org/officeDocument/2006/relationships/notesSlide" Target="/ppt/notesSlides/notesSlide15.xml" Id="R1952492c9e2245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88363f601db4f86" /><Relationship Type="http://schemas.openxmlformats.org/officeDocument/2006/relationships/notesSlide" Target="/ppt/notesSlides/notesSlide16.xml" Id="Rc621e90cbd4a49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528dad24d72489e" /><Relationship Type="http://schemas.openxmlformats.org/officeDocument/2006/relationships/notesSlide" Target="/ppt/notesSlides/notesSlide17.xml" Id="R0781c96433cf40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36babf7155e41db" /><Relationship Type="http://schemas.openxmlformats.org/officeDocument/2006/relationships/notesSlide" Target="/ppt/notesSlides/notesSlide18.xml" Id="R322e9427a1d24e82" /></Relationships>
</file>

<file path=ppt/slides/slide1.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585D801-D1C9-4367-9DD0-C30E823F64B3}"/>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323131"/>
                </a:solidFill>
                <a:latin typeface="Arial"/>
                <a:ea typeface="Arial"/>
                <a:cs typeface="Arial"/>
              </a:defRPr>
            </a:defPPr>
          </a:lstStyle>
          <a:p xmlns:a="http://schemas.openxmlformats.org/drawingml/2006/main">
            <a:pPr>
              <a:defRPr sz="4350" b="1">
                <a:solidFill>
                  <a:srgbClr val="323131"/>
                </a:solidFill>
                <a:latin typeface="Arial"/>
                <a:ea typeface="Arial"/>
                <a:cs typeface="Arial"/>
              </a:defRPr>
            </a:pPr>
            <a:r>
              <a:rPr sz="4350" b="1">
                <a:solidFill>
                  <a:srgbClr val="323131"/>
                </a:solidFill>
                <a:latin typeface="Arial"/>
                <a:ea typeface="Arial"/>
                <a:cs typeface="Arial"/>
              </a:rPr>
              <a:t>Delegate: design review</a:t>
            </a:r>
          </a:p>
        </p:txBody>
      </p:sp>
      <p:sp>
        <p:nvSpPr>
          <p:cNvPr id="2" name="paragraph-0">
            <a:extLst xmlns:a="http://schemas.openxmlformats.org/drawingml/2006/main">
              <a:ext uri="{FF2B5EF4-FFF2-40B4-BE49-F238E27FC236}">
                <a16:creationId xmlns:a16="http://schemas.microsoft.com/office/drawing/2014/main" id="{6F92931E-4073-448A-8D91-E798C78D4AF9}"/>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323131"/>
                </a:solidFill>
                <a:latin typeface="Arial"/>
                <a:ea typeface="Arial"/>
                <a:cs typeface="Arial"/>
              </a:defRPr>
            </a:defPPr>
          </a:lstStyle>
          <a:p xmlns:a="http://schemas.openxmlformats.org/drawingml/2006/main">
            <a:pPr>
              <a:defRPr sz="2700" b="0">
                <a:solidFill>
                  <a:srgbClr val="323131"/>
                </a:solidFill>
                <a:latin typeface="Arial"/>
                <a:ea typeface="Arial"/>
                <a:cs typeface="Arial"/>
              </a:defRPr>
            </a:pPr>
            <a:r>
              <a:rPr sz="2700" b="0">
                <a:solidFill>
                  <a:srgbClr val="323131"/>
                </a:solidFill>
                <a:latin typeface="Arial"/>
                <a:ea typeface="Arial"/>
                <a:cs typeface="Arial"/>
              </a:rPr>
              <a:t>Implemented safeguards, service boundaries and questions for a government trial.</a:t>
            </a:r>
          </a:p>
        </p:txBody>
      </p:sp>
      <p:sp>
        <p:nvSpPr>
          <p:cNvPr id="3" name="paragraph-1">
            <a:extLst xmlns:a="http://schemas.openxmlformats.org/drawingml/2006/main">
              <a:ext uri="{FF2B5EF4-FFF2-40B4-BE49-F238E27FC236}">
                <a16:creationId xmlns:a16="http://schemas.microsoft.com/office/drawing/2014/main" id="{435CE23B-2D6C-4C35-BF63-6B3D4F8D7EE8}"/>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323131"/>
                </a:solidFill>
                <a:latin typeface="Arial"/>
                <a:ea typeface="Arial"/>
                <a:cs typeface="Arial"/>
              </a:defRPr>
            </a:defPPr>
          </a:lstStyle>
          <a:p xmlns:a="http://schemas.openxmlformats.org/drawingml/2006/main">
            <a:pPr>
              <a:defRPr sz="2700" b="0">
                <a:solidFill>
                  <a:srgbClr val="323131"/>
                </a:solidFill>
                <a:latin typeface="Arial"/>
                <a:ea typeface="Arial"/>
                <a:cs typeface="Arial"/>
              </a:defRPr>
            </a:pPr>
            <a:r>
              <a:rPr sz="2700" b="0">
                <a:solidFill>
                  <a:srgbClr val="323131"/>
                </a:solidFill>
                <a:latin typeface="Arial"/>
                <a:ea typeface="Arial"/>
                <a:cs typeface="Arial"/>
              </a:rPr>
              <a:t>Synthetic prototype. Production ownership and recognition remain open.</a:t>
            </a:r>
          </a:p>
        </p:txBody>
      </p:sp>
      <p:sp>
        <p:nvSpPr>
          <p:cNvPr id="4" name="disclosure">
            <a:extLst xmlns:a="http://schemas.openxmlformats.org/drawingml/2006/main">
              <a:ext uri="{FF2B5EF4-FFF2-40B4-BE49-F238E27FC236}">
                <a16:creationId xmlns:a16="http://schemas.microsoft.com/office/drawing/2014/main" id="{BB73B43D-E7C5-432A-AF6F-47E26C632E16}"/>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AA922E01-D3E4-43F6-942E-EE7EC9605B50}"/>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a:t>
            </a:r>
          </a:p>
        </p:txBody>
      </p:sp>
    </p:spTree>
    <p:extLst>
      <p:ext uri="{BB962C8B-B14F-4D97-AF65-F5344CB8AC3E}">
        <p14:creationId xmlns:p14="http://schemas.microsoft.com/office/powerpoint/2010/main" val="749129420"/>
      </p:ext>
    </p:extLst>
  </p:cSld>
</p:sld>
</file>

<file path=ppt/slides/slide2.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9627987-531D-421C-A177-4005D744A731}"/>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System responsibilities</a:t>
            </a:r>
          </a:p>
        </p:txBody>
      </p:sp>
      <p:graphicFrame>
        <p:nvGraphicFramePr>
          <p:cNvPr id="2" name="">
            <a:extLst xmlns:a="http://schemas.openxmlformats.org/drawingml/2006/main">
              <a:ext uri="{FF2B5EF4-FFF2-40B4-BE49-F238E27FC236}">
                <a16:creationId xmlns:a16="http://schemas.microsoft.com/office/drawing/2014/main" id="{D025CB52-CF56-43DA-8AE9-8C81E951AD19}"/>
              </a:ext>
            </a:extLst>
          </p:cNvPr>
          <p:cNvGraphicFramePr/>
          <p:nvPr/>
        </p:nvGraphicFramePr>
        <p:xfrm>
          <a:off xmlns:a="http://schemas.openxmlformats.org/drawingml/2006/main" x="685800" y="2266950"/>
          <a:ext xmlns:a="http://schemas.openxmlformats.org/drawingml/2006/main" cx="10820400" cy="3524250"/>
        </p:xfrm>
        <a:graphic xmlns:a="http://schemas.openxmlformats.org/drawingml/2006/main">
          <a:graphicData uri="http://schemas.openxmlformats.org/drawingml/2006/table">
            <a:tbl>
              <a:tblPr/>
              <a:tblGrid>
                <a:gridCol w="4000500"/>
                <a:gridCol w="6819900"/>
              </a:tblGrid>
              <a:tr h="587375">
                <a:tc>
                  <a:txBody>
                    <a:bodyPr/>
                    <a:lstStyle/>
                    <a:p>
                      <a:r>
                        <a:rPr sz="1950" b="1">
                          <a:solidFill>
                            <a:srgbClr val="FFFFFF"/>
                          </a:solidFill>
                          <a:latin typeface="Arial"/>
                          <a:ea typeface="Arial"/>
                          <a:cs typeface="Arial"/>
                        </a:rPr>
                        <a:t>System</a:t>
                      </a:r>
                    </a:p>
                  </a:txBody>
                  <a:tcPr marL="91440" marR="91440" marT="45720" marB="45720">
                    <a:solidFill>
                      <a:srgbClr val="323131"/>
                    </a:solidFill>
                  </a:tcPr>
                </a:tc>
                <a:tc>
                  <a:txBody>
                    <a:bodyPr/>
                    <a:lstStyle/>
                    <a:p>
                      <a:r>
                        <a:rPr sz="1950" b="1">
                          <a:solidFill>
                            <a:srgbClr val="FFFFFF"/>
                          </a:solidFill>
                          <a:latin typeface="Arial"/>
                          <a:ea typeface="Arial"/>
                          <a:cs typeface="Arial"/>
                        </a:rPr>
                        <a:t>Responsibility</a:t>
                      </a:r>
                    </a:p>
                  </a:txBody>
                  <a:tcPr marL="91440" marR="91440" marT="45720" marB="45720">
                    <a:solidFill>
                      <a:srgbClr val="323131"/>
                    </a:solidFill>
                  </a:tcPr>
                </a:tc>
              </a:tr>
              <a:tr h="587375">
                <a:tc>
                  <a:txBody>
                    <a:bodyPr/>
                    <a:lstStyle/>
                    <a:p>
                      <a:r>
                        <a:rPr sz="1950" b="0">
                          <a:solidFill>
                            <a:srgbClr val="323131"/>
                          </a:solidFill>
                          <a:latin typeface="Arial"/>
                          <a:ea typeface="Arial"/>
                          <a:cs typeface="Arial"/>
                        </a:rPr>
                        <a:t>One Login</a:t>
                      </a:r>
                    </a:p>
                  </a:txBody>
                  <a:tcPr marL="91440" marR="91440" marT="45720" marB="45720">
                    <a:solidFill>
                      <a:srgbClr val="FFFFFF"/>
                    </a:solidFill>
                  </a:tcPr>
                </a:tc>
                <a:tc>
                  <a:txBody>
                    <a:bodyPr/>
                    <a:lstStyle/>
                    <a:p>
                      <a:r>
                        <a:rPr sz="1950" b="0">
                          <a:solidFill>
                            <a:srgbClr val="323131"/>
                          </a:solidFill>
                          <a:latin typeface="Arial"/>
                          <a:ea typeface="Arial"/>
                          <a:cs typeface="Arial"/>
                        </a:rPr>
                        <a:t>Authenticate the person</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Delegate</a:t>
                      </a:r>
                    </a:p>
                  </a:txBody>
                  <a:tcPr marL="91440" marR="91440" marT="45720" marB="45720">
                    <a:solidFill>
                      <a:srgbClr val="FFFFFF"/>
                    </a:solidFill>
                  </a:tcPr>
                </a:tc>
                <a:tc>
                  <a:txBody>
                    <a:bodyPr/>
                    <a:lstStyle/>
                    <a:p>
                      <a:r>
                        <a:rPr sz="1950" b="0">
                          <a:solidFill>
                            <a:srgbClr val="323131"/>
                          </a:solidFill>
                          <a:latin typeface="Arial"/>
                          <a:ea typeface="Arial"/>
                          <a:cs typeface="Arial"/>
                        </a:rPr>
                        <a:t>Record consent and check current authority</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HMRC / council</a:t>
                      </a:r>
                    </a:p>
                  </a:txBody>
                  <a:tcPr marL="91440" marR="91440" marT="45720" marB="45720">
                    <a:solidFill>
                      <a:srgbClr val="FFFFFF"/>
                    </a:solidFill>
                  </a:tcPr>
                </a:tc>
                <a:tc>
                  <a:txBody>
                    <a:bodyPr/>
                    <a:lstStyle/>
                    <a:p>
                      <a:r>
                        <a:rPr sz="1950" b="0">
                          <a:solidFill>
                            <a:srgbClr val="323131"/>
                          </a:solidFill>
                          <a:latin typeface="Arial"/>
                          <a:ea typeface="Arial"/>
                          <a:cs typeface="Arial"/>
                        </a:rPr>
                        <a:t>Define and execute service actions</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Chosen assistant</a:t>
                      </a:r>
                    </a:p>
                  </a:txBody>
                  <a:tcPr marL="91440" marR="91440" marT="45720" marB="45720">
                    <a:solidFill>
                      <a:srgbClr val="FFFFFF"/>
                    </a:solidFill>
                  </a:tcPr>
                </a:tc>
                <a:tc>
                  <a:txBody>
                    <a:bodyPr/>
                    <a:lstStyle/>
                    <a:p>
                      <a:r>
                        <a:rPr sz="1950" b="0">
                          <a:solidFill>
                            <a:srgbClr val="323131"/>
                          </a:solidFill>
                          <a:latin typeface="Arial"/>
                          <a:ea typeface="Arial"/>
                          <a:cs typeface="Arial"/>
                        </a:rPr>
                        <a:t>Plan work and use service interfaces</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Observatory</a:t>
                      </a:r>
                    </a:p>
                  </a:txBody>
                  <a:tcPr marL="91440" marR="91440" marT="45720" marB="45720">
                    <a:solidFill>
                      <a:srgbClr val="FFFFFF"/>
                    </a:solidFill>
                  </a:tcPr>
                </a:tc>
                <a:tc>
                  <a:txBody>
                    <a:bodyPr/>
                    <a:lstStyle/>
                    <a:p>
                      <a:r>
                        <a:rPr sz="1950" b="0">
                          <a:solidFill>
                            <a:srgbClr val="323131"/>
                          </a:solidFill>
                          <a:latin typeface="Arial"/>
                          <a:ea typeface="Arial"/>
                          <a:cs typeface="Arial"/>
                        </a:rPr>
                        <a:t>Inspect evidence and research predictions</a:t>
                      </a:r>
                    </a:p>
                  </a:txBody>
                  <a:tcPr marL="91440" marR="91440" marT="45720" marB="45720">
                    <a:solidFill>
                      <a:srgbClr val="FFFFFF"/>
                    </a:solidFill>
                  </a:tcPr>
                </a:tc>
              </a:tr>
            </a:tbl>
          </a:graphicData>
        </a:graphic>
      </p:graphicFrame>
      <p:sp>
        <p:nvSpPr>
          <p:cNvPr id="3" name="disclosure">
            <a:extLst xmlns:a="http://schemas.openxmlformats.org/drawingml/2006/main">
              <a:ext uri="{FF2B5EF4-FFF2-40B4-BE49-F238E27FC236}">
                <a16:creationId xmlns:a16="http://schemas.microsoft.com/office/drawing/2014/main" id="{F50CCBA7-B519-4545-B7F8-DBAE3FA27B1C}"/>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4" name="page">
            <a:extLst xmlns:a="http://schemas.openxmlformats.org/drawingml/2006/main">
              <a:ext uri="{FF2B5EF4-FFF2-40B4-BE49-F238E27FC236}">
                <a16:creationId xmlns:a16="http://schemas.microsoft.com/office/drawing/2014/main" id="{410E11F3-4D41-4F62-A20F-6CFD20C963F6}"/>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2</a:t>
            </a:r>
          </a:p>
        </p:txBody>
      </p:sp>
    </p:spTree>
    <p:extLst>
      <p:ext uri="{BB962C8B-B14F-4D97-AF65-F5344CB8AC3E}">
        <p14:creationId xmlns:p14="http://schemas.microsoft.com/office/powerpoint/2010/main" val="1867979891"/>
      </p:ext>
    </p:extLst>
  </p:cSld>
</p:sld>
</file>

<file path=ppt/slides/slide3.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C051568-C577-40CC-9294-88983617A038}"/>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A request becomes a bounded relationship</a:t>
            </a:r>
          </a:p>
        </p:txBody>
      </p:sp>
      <p:sp>
        <p:nvSpPr>
          <p:cNvPr id="2" name="paragraph-0">
            <a:extLst xmlns:a="http://schemas.openxmlformats.org/drawingml/2006/main">
              <a:ext uri="{FF2B5EF4-FFF2-40B4-BE49-F238E27FC236}">
                <a16:creationId xmlns:a16="http://schemas.microsoft.com/office/drawing/2014/main" id="{3C1BFE94-B9D1-48FD-9509-CACABDDDF94A}"/>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A registered representative asks for named service capabilities.</a:t>
            </a:r>
          </a:p>
        </p:txBody>
      </p:sp>
      <p:sp>
        <p:nvSpPr>
          <p:cNvPr id="3" name="paragraph-1">
            <a:extLst xmlns:a="http://schemas.openxmlformats.org/drawingml/2006/main">
              <a:ext uri="{FF2B5EF4-FFF2-40B4-BE49-F238E27FC236}">
                <a16:creationId xmlns:a16="http://schemas.microsoft.com/office/drawing/2014/main" id="{04A191F2-10EC-443E-953E-E83C6A9A37F3}"/>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Choices start unchecked. The person selects scope and sees when permission ends. Each service checks current authority before acting.</a:t>
            </a:r>
          </a:p>
        </p:txBody>
      </p:sp>
      <p:sp>
        <p:nvSpPr>
          <p:cNvPr id="4" name="disclosure">
            <a:extLst xmlns:a="http://schemas.openxmlformats.org/drawingml/2006/main">
              <a:ext uri="{FF2B5EF4-FFF2-40B4-BE49-F238E27FC236}">
                <a16:creationId xmlns:a16="http://schemas.microsoft.com/office/drawing/2014/main" id="{13AE2923-79E1-409A-928B-1CCED60C01F0}"/>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0EB5D30B-BA05-41A5-BCC2-F21C19F3E90A}"/>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3</a:t>
            </a:r>
          </a:p>
        </p:txBody>
      </p:sp>
    </p:spTree>
    <p:extLst>
      <p:ext uri="{BB962C8B-B14F-4D97-AF65-F5344CB8AC3E}">
        <p14:creationId xmlns:p14="http://schemas.microsoft.com/office/powerpoint/2010/main" val="2104267900"/>
      </p:ext>
    </p:extLst>
  </p:cSld>
</p:sld>
</file>

<file path=ppt/slides/slide4.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F2141E8-7163-447B-B612-5A913614E114}"/>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Service catalogues and standards</a:t>
            </a:r>
          </a:p>
        </p:txBody>
      </p:sp>
      <p:sp>
        <p:nvSpPr>
          <p:cNvPr id="2" name="paragraph-0">
            <a:extLst xmlns:a="http://schemas.openxmlformats.org/drawingml/2006/main">
              <a:ext uri="{FF2B5EF4-FFF2-40B4-BE49-F238E27FC236}">
                <a16:creationId xmlns:a16="http://schemas.microsoft.com/office/drawing/2014/main" id="{42182328-A21C-4B4F-BFD6-BC5384DD7A07}"/>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Services publish immutable versions of their capabilities and supported restrictions.</a:t>
            </a:r>
          </a:p>
        </p:txBody>
      </p:sp>
      <p:sp>
        <p:nvSpPr>
          <p:cNvPr id="3" name="paragraph-1">
            <a:extLst xmlns:a="http://schemas.openxmlformats.org/drawingml/2006/main">
              <a:ext uri="{FF2B5EF4-FFF2-40B4-BE49-F238E27FC236}">
                <a16:creationId xmlns:a16="http://schemas.microsoft.com/office/drawing/2014/main" id="{7E14474F-74B0-4FEF-97C7-FB8C1DC96A8B}"/>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Delegate validates the shared contract. Services own the meaning of each operation and restriction.</a:t>
            </a:r>
          </a:p>
        </p:txBody>
      </p:sp>
      <p:sp>
        <p:nvSpPr>
          <p:cNvPr id="4" name="disclosure">
            <a:extLst xmlns:a="http://schemas.openxmlformats.org/drawingml/2006/main">
              <a:ext uri="{FF2B5EF4-FFF2-40B4-BE49-F238E27FC236}">
                <a16:creationId xmlns:a16="http://schemas.microsoft.com/office/drawing/2014/main" id="{F0BB4B32-00B8-4CCC-AC16-B4F70BE3E45D}"/>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EAB70EF7-6F90-4D72-BFC2-B3AEE65E7268}"/>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4</a:t>
            </a:r>
          </a:p>
        </p:txBody>
      </p:sp>
    </p:spTree>
    <p:extLst>
      <p:ext uri="{BB962C8B-B14F-4D97-AF65-F5344CB8AC3E}">
        <p14:creationId xmlns:p14="http://schemas.microsoft.com/office/powerpoint/2010/main" val="967767638"/>
      </p:ext>
    </p:extLst>
  </p:cSld>
</p:sld>
</file>

<file path=ppt/slides/slide5.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4D1DA3A-B01C-4660-9376-6C9A3A09585F}"/>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Restrictions stay within the grant</a:t>
            </a:r>
          </a:p>
        </p:txBody>
      </p:sp>
      <p:sp>
        <p:nvSpPr>
          <p:cNvPr id="2" name="paragraph-0">
            <a:extLst xmlns:a="http://schemas.openxmlformats.org/drawingml/2006/main">
              <a:ext uri="{FF2B5EF4-FFF2-40B4-BE49-F238E27FC236}">
                <a16:creationId xmlns:a16="http://schemas.microsoft.com/office/drawing/2014/main" id="{2D75815E-9039-4B1F-B78B-2FD4F3A40F7A}"/>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The prototype supports bounded sets of service-defined values, such as permitted tax years.</a:t>
            </a:r>
          </a:p>
        </p:txBody>
      </p:sp>
      <p:sp>
        <p:nvSpPr>
          <p:cNvPr id="3" name="paragraph-1">
            <a:extLst xmlns:a="http://schemas.openxmlformats.org/drawingml/2006/main">
              <a:ext uri="{FF2B5EF4-FFF2-40B4-BE49-F238E27FC236}">
                <a16:creationId xmlns:a16="http://schemas.microsoft.com/office/drawing/2014/main" id="{10A5D74E-D45D-480F-B1AF-AF8076574FCA}"/>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A person or sub-agent can narrow those values. A service checks the actual operation against the returned bounds.</a:t>
            </a:r>
          </a:p>
        </p:txBody>
      </p:sp>
      <p:sp>
        <p:nvSpPr>
          <p:cNvPr id="4" name="disclosure">
            <a:extLst xmlns:a="http://schemas.openxmlformats.org/drawingml/2006/main">
              <a:ext uri="{FF2B5EF4-FFF2-40B4-BE49-F238E27FC236}">
                <a16:creationId xmlns:a16="http://schemas.microsoft.com/office/drawing/2014/main" id="{E9E6902B-F6FE-4662-B1B2-DACAD8A17D92}"/>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6234D84C-8DCB-4F11-B795-20CA2C0886DC}"/>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5</a:t>
            </a:r>
          </a:p>
        </p:txBody>
      </p:sp>
    </p:spTree>
    <p:extLst>
      <p:ext uri="{BB962C8B-B14F-4D97-AF65-F5344CB8AC3E}">
        <p14:creationId xmlns:p14="http://schemas.microsoft.com/office/powerpoint/2010/main" val="402397853"/>
      </p:ext>
    </p:extLst>
  </p:cSld>
</p:sld>
</file>

<file path=ppt/slides/slide6.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803692B-CB12-4A44-8782-776A8FCCFBAF}"/>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Credentials and replay defence</a:t>
            </a:r>
          </a:p>
        </p:txBody>
      </p:sp>
      <p:sp>
        <p:nvSpPr>
          <p:cNvPr id="2" name="paragraph-0">
            <a:extLst xmlns:a="http://schemas.openxmlformats.org/drawingml/2006/main">
              <a:ext uri="{FF2B5EF4-FFF2-40B4-BE49-F238E27FC236}">
                <a16:creationId xmlns:a16="http://schemas.microsoft.com/office/drawing/2014/main" id="{FFD0F9A2-6859-4494-9656-9FCF8D930C84}"/>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The agent authenticates as itself. Request signatures bind the intended request.</a:t>
            </a:r>
          </a:p>
        </p:txBody>
      </p:sp>
      <p:sp>
        <p:nvSpPr>
          <p:cNvPr id="3" name="paragraph-1">
            <a:extLst xmlns:a="http://schemas.openxmlformats.org/drawingml/2006/main">
              <a:ext uri="{FF2B5EF4-FFF2-40B4-BE49-F238E27FC236}">
                <a16:creationId xmlns:a16="http://schemas.microsoft.com/office/drawing/2014/main" id="{0C2F2BC6-AFD1-473C-B162-57A9AF68BF83}"/>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Replay controls and consent CSRF checks protect the supported paths.</a:t>
            </a:r>
          </a:p>
        </p:txBody>
      </p:sp>
      <p:sp>
        <p:nvSpPr>
          <p:cNvPr id="4" name="disclosure">
            <a:extLst xmlns:a="http://schemas.openxmlformats.org/drawingml/2006/main">
              <a:ext uri="{FF2B5EF4-FFF2-40B4-BE49-F238E27FC236}">
                <a16:creationId xmlns:a16="http://schemas.microsoft.com/office/drawing/2014/main" id="{FDE0C100-CD68-4D2F-97B4-30EAF5AD887F}"/>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9B488156-5258-42C4-BAAA-1C6086CEEC97}"/>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6</a:t>
            </a:r>
          </a:p>
        </p:txBody>
      </p:sp>
    </p:spTree>
    <p:extLst>
      <p:ext uri="{BB962C8B-B14F-4D97-AF65-F5344CB8AC3E}">
        <p14:creationId xmlns:p14="http://schemas.microsoft.com/office/powerpoint/2010/main" val="158332202"/>
      </p:ext>
    </p:extLst>
  </p:cSld>
</p:sld>
</file>

<file path=ppt/slides/slide7.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739CEBE-FEB7-4F9C-8516-3CA60971F7A8}"/>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Sub-agents inherit narrower authority</a:t>
            </a:r>
          </a:p>
        </p:txBody>
      </p:sp>
      <p:sp>
        <p:nvSpPr>
          <p:cNvPr id="2" name="paragraph-0">
            <a:extLst xmlns:a="http://schemas.openxmlformats.org/drawingml/2006/main">
              <a:ext uri="{FF2B5EF4-FFF2-40B4-BE49-F238E27FC236}">
                <a16:creationId xmlns:a16="http://schemas.microsoft.com/office/drawing/2014/main" id="{E17C1B41-4613-44C0-AA1D-16F1802BEAFC}"/>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Live checks inspect the parent chain as well as the current delegation.</a:t>
            </a:r>
          </a:p>
        </p:txBody>
      </p:sp>
      <p:sp>
        <p:nvSpPr>
          <p:cNvPr id="3" name="paragraph-1">
            <a:extLst xmlns:a="http://schemas.openxmlformats.org/drawingml/2006/main">
              <a:ext uri="{FF2B5EF4-FFF2-40B4-BE49-F238E27FC236}">
                <a16:creationId xmlns:a16="http://schemas.microsoft.com/office/drawing/2014/main" id="{D116EBC7-6E33-4A7C-9FC2-8F81E5387BA5}"/>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Removing a capability, revoking an ancestor or reaching expiry prevents later use.</a:t>
            </a:r>
          </a:p>
        </p:txBody>
      </p:sp>
      <p:sp>
        <p:nvSpPr>
          <p:cNvPr id="4" name="disclosure">
            <a:extLst xmlns:a="http://schemas.openxmlformats.org/drawingml/2006/main">
              <a:ext uri="{FF2B5EF4-FFF2-40B4-BE49-F238E27FC236}">
                <a16:creationId xmlns:a16="http://schemas.microsoft.com/office/drawing/2014/main" id="{4DDF73D3-3239-4AAA-826A-3BD57EDFEFC1}"/>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00DF35E9-B97A-4E85-8F22-AFBA9EC8010C}"/>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7</a:t>
            </a:r>
          </a:p>
        </p:txBody>
      </p:sp>
    </p:spTree>
    <p:extLst>
      <p:ext uri="{BB962C8B-B14F-4D97-AF65-F5344CB8AC3E}">
        <p14:creationId xmlns:p14="http://schemas.microsoft.com/office/powerpoint/2010/main" val="377406481"/>
      </p:ext>
    </p:extLst>
  </p:cSld>
</p:sld>
</file>

<file path=ppt/slides/slide8.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FF79744-3DAE-4EE9-B06D-B38C4209A98F}"/>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Sensitive changes need exact-action approval</a:t>
            </a:r>
          </a:p>
        </p:txBody>
      </p:sp>
      <p:sp>
        <p:nvSpPr>
          <p:cNvPr id="2" name="paragraph-0">
            <a:extLst xmlns:a="http://schemas.openxmlformats.org/drawingml/2006/main">
              <a:ext uri="{FF2B5EF4-FFF2-40B4-BE49-F238E27FC236}">
                <a16:creationId xmlns:a16="http://schemas.microsoft.com/office/drawing/2014/main" id="{8A3EB54F-D8D8-460E-8289-28D3D426D488}"/>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Refund-account and address changes require approval of the proposed change.</a:t>
            </a:r>
          </a:p>
        </p:txBody>
      </p:sp>
      <p:sp>
        <p:nvSpPr>
          <p:cNvPr id="3" name="paragraph-1">
            <a:extLst xmlns:a="http://schemas.openxmlformats.org/drawingml/2006/main">
              <a:ext uri="{FF2B5EF4-FFF2-40B4-BE49-F238E27FC236}">
                <a16:creationId xmlns:a16="http://schemas.microsoft.com/office/drawing/2014/main" id="{4E66DD04-0EB5-46A5-B5CC-F9429D554CC8}"/>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Approval binds the payload, operation key, person, mandate and expiry.</a:t>
            </a:r>
          </a:p>
        </p:txBody>
      </p:sp>
      <p:sp>
        <p:nvSpPr>
          <p:cNvPr id="4" name="disclosure">
            <a:extLst xmlns:a="http://schemas.openxmlformats.org/drawingml/2006/main">
              <a:ext uri="{FF2B5EF4-FFF2-40B4-BE49-F238E27FC236}">
                <a16:creationId xmlns:a16="http://schemas.microsoft.com/office/drawing/2014/main" id="{FC1310BD-6168-4427-96B5-84A7C1DFBA62}"/>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36B5E9D7-B39E-474C-B7E4-C6C776DFF1D5}"/>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8</a:t>
            </a:r>
          </a:p>
        </p:txBody>
      </p:sp>
    </p:spTree>
    <p:extLst>
      <p:ext uri="{BB962C8B-B14F-4D97-AF65-F5344CB8AC3E}">
        <p14:creationId xmlns:p14="http://schemas.microsoft.com/office/powerpoint/2010/main" val="498000133"/>
      </p:ext>
    </p:extLst>
  </p:cSld>
</p:sld>
</file>

<file path=ppt/slides/slide9.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08B7F0-E13D-48B8-870A-8C62A73B60E9}"/>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Original consent and later changes</a:t>
            </a:r>
          </a:p>
        </p:txBody>
      </p:sp>
      <p:sp>
        <p:nvSpPr>
          <p:cNvPr id="2" name="paragraph-0">
            <a:extLst xmlns:a="http://schemas.openxmlformats.org/drawingml/2006/main">
              <a:ext uri="{FF2B5EF4-FFF2-40B4-BE49-F238E27FC236}">
                <a16:creationId xmlns:a16="http://schemas.microsoft.com/office/drawing/2014/main" id="{1ABCE30F-50DB-4BA3-A047-1A2B60854A2C}"/>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Approval stores the wording and catalogue version Sam saw.</a:t>
            </a:r>
          </a:p>
        </p:txBody>
      </p:sp>
      <p:sp>
        <p:nvSpPr>
          <p:cNvPr id="3" name="paragraph-1">
            <a:extLst xmlns:a="http://schemas.openxmlformats.org/drawingml/2006/main">
              <a:ext uri="{FF2B5EF4-FFF2-40B4-BE49-F238E27FC236}">
                <a16:creationId xmlns:a16="http://schemas.microsoft.com/office/drawing/2014/main" id="{A25BA201-B2BC-4B1C-BEFF-2E7D68ED8A4F}"/>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Narrowing and revocation append history while preserving that original evidence.</a:t>
            </a:r>
          </a:p>
        </p:txBody>
      </p:sp>
      <p:sp>
        <p:nvSpPr>
          <p:cNvPr id="4" name="disclosure">
            <a:extLst xmlns:a="http://schemas.openxmlformats.org/drawingml/2006/main">
              <a:ext uri="{FF2B5EF4-FFF2-40B4-BE49-F238E27FC236}">
                <a16:creationId xmlns:a16="http://schemas.microsoft.com/office/drawing/2014/main" id="{581AD79C-C1A5-43DB-AE08-B3644D75243F}"/>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2CB8E65F-A7E5-4EBE-A463-82102A102040}"/>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9</a:t>
            </a:r>
          </a:p>
        </p:txBody>
      </p:sp>
    </p:spTree>
    <p:extLst>
      <p:ext uri="{BB962C8B-B14F-4D97-AF65-F5344CB8AC3E}">
        <p14:creationId xmlns:p14="http://schemas.microsoft.com/office/powerpoint/2010/main" val="847386994"/>
      </p:ext>
    </p:extLst>
  </p:cSld>
</p:sld>
</file>

<file path=ppt/slides/slide10.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3159F14-3D2C-4B23-8788-BBFD2FD266D5}"/>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Receipts and redress</a:t>
            </a:r>
          </a:p>
        </p:txBody>
      </p:sp>
      <p:sp>
        <p:nvSpPr>
          <p:cNvPr id="2" name="paragraph-0">
            <a:extLst xmlns:a="http://schemas.openxmlformats.org/drawingml/2006/main">
              <a:ext uri="{FF2B5EF4-FFF2-40B4-BE49-F238E27FC236}">
                <a16:creationId xmlns:a16="http://schemas.microsoft.com/office/drawing/2014/main" id="{C25EE8CB-7677-4B15-9420-B3FEB343FDAB}"/>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Service outcomes differ from successful authority checks.</a:t>
            </a:r>
          </a:p>
        </p:txBody>
      </p:sp>
      <p:sp>
        <p:nvSpPr>
          <p:cNvPr id="3" name="paragraph-1">
            <a:extLst xmlns:a="http://schemas.openxmlformats.org/drawingml/2006/main">
              <a:ext uri="{FF2B5EF4-FFF2-40B4-BE49-F238E27FC236}">
                <a16:creationId xmlns:a16="http://schemas.microsoft.com/office/drawing/2014/main" id="{7D604054-821C-415B-96D8-4C038D7AD7D1}"/>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Sam can inspect an agent's answer, dispute it and remove that permission.</a:t>
            </a:r>
          </a:p>
        </p:txBody>
      </p:sp>
      <p:sp>
        <p:nvSpPr>
          <p:cNvPr id="4" name="disclosure">
            <a:extLst xmlns:a="http://schemas.openxmlformats.org/drawingml/2006/main">
              <a:ext uri="{FF2B5EF4-FFF2-40B4-BE49-F238E27FC236}">
                <a16:creationId xmlns:a16="http://schemas.microsoft.com/office/drawing/2014/main" id="{AB8E0F85-09EE-45F4-A51D-FEAEDFDDCA4C}"/>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58D41FF9-9F22-4844-85F8-42E509F7C694}"/>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10</a:t>
            </a:r>
          </a:p>
        </p:txBody>
      </p:sp>
    </p:spTree>
    <p:extLst>
      <p:ext uri="{BB962C8B-B14F-4D97-AF65-F5344CB8AC3E}">
        <p14:creationId xmlns:p14="http://schemas.microsoft.com/office/powerpoint/2010/main" val="1912771001"/>
      </p:ext>
    </p:extLst>
  </p:cSld>
</p:sld>
</file>

<file path=ppt/slides/slide11.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B61C826-9CB5-4346-A5B7-CB9E64F35BC2}"/>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Transport load and service outcomes</a:t>
            </a:r>
          </a:p>
        </p:txBody>
      </p:sp>
      <p:graphicFrame>
        <p:nvGraphicFramePr>
          <p:cNvPr id="2" name="">
            <a:extLst xmlns:a="http://schemas.openxmlformats.org/drawingml/2006/main">
              <a:ext uri="{FF2B5EF4-FFF2-40B4-BE49-F238E27FC236}">
                <a16:creationId xmlns:a16="http://schemas.microsoft.com/office/drawing/2014/main" id="{5343C74C-C98B-4701-BC1A-7841FD97B8A6}"/>
              </a:ext>
            </a:extLst>
          </p:cNvPr>
          <p:cNvGraphicFramePr/>
          <p:nvPr/>
        </p:nvGraphicFramePr>
        <p:xfrm>
          <a:off xmlns:a="http://schemas.openxmlformats.org/drawingml/2006/main" x="685800" y="2266950"/>
          <a:ext xmlns:a="http://schemas.openxmlformats.org/drawingml/2006/main" cx="10820400" cy="3524250"/>
        </p:xfrm>
        <a:graphic xmlns:a="http://schemas.openxmlformats.org/drawingml/2006/main">
          <a:graphicData uri="http://schemas.openxmlformats.org/drawingml/2006/table">
            <a:tbl>
              <a:tblPr/>
              <a:tblGrid>
                <a:gridCol w="4000500"/>
                <a:gridCol w="6819900"/>
              </a:tblGrid>
              <a:tr h="587375">
                <a:tc>
                  <a:txBody>
                    <a:bodyPr/>
                    <a:lstStyle/>
                    <a:p>
                      <a:r>
                        <a:rPr sz="1950" b="1">
                          <a:solidFill>
                            <a:srgbClr val="FFFFFF"/>
                          </a:solidFill>
                          <a:latin typeface="Arial"/>
                          <a:ea typeface="Arial"/>
                          <a:cs typeface="Arial"/>
                        </a:rPr>
                        <a:t>Measure</a:t>
                      </a:r>
                    </a:p>
                  </a:txBody>
                  <a:tcPr marL="91440" marR="91440" marT="45720" marB="45720">
                    <a:solidFill>
                      <a:srgbClr val="323131"/>
                    </a:solidFill>
                  </a:tcPr>
                </a:tc>
                <a:tc>
                  <a:txBody>
                    <a:bodyPr/>
                    <a:lstStyle/>
                    <a:p>
                      <a:r>
                        <a:rPr sz="1950" b="1">
                          <a:solidFill>
                            <a:srgbClr val="FFFFFF"/>
                          </a:solidFill>
                          <a:latin typeface="Arial"/>
                          <a:ea typeface="Arial"/>
                          <a:cs typeface="Arial"/>
                        </a:rPr>
                        <a:t>Meaning</a:t>
                      </a:r>
                    </a:p>
                  </a:txBody>
                  <a:tcPr marL="91440" marR="91440" marT="45720" marB="45720">
                    <a:solidFill>
                      <a:srgbClr val="323131"/>
                    </a:solidFill>
                  </a:tcPr>
                </a:tc>
              </a:tr>
              <a:tr h="587375">
                <a:tc>
                  <a:txBody>
                    <a:bodyPr/>
                    <a:lstStyle/>
                    <a:p>
                      <a:r>
                        <a:rPr sz="1950" b="0">
                          <a:solidFill>
                            <a:srgbClr val="323131"/>
                          </a:solidFill>
                          <a:latin typeface="Arial"/>
                          <a:ea typeface="Arial"/>
                          <a:cs typeface="Arial"/>
                        </a:rPr>
                        <a:t>Requests / authority checks</a:t>
                      </a:r>
                    </a:p>
                  </a:txBody>
                  <a:tcPr marL="91440" marR="91440" marT="45720" marB="45720">
                    <a:solidFill>
                      <a:srgbClr val="FFFFFF"/>
                    </a:solidFill>
                  </a:tcPr>
                </a:tc>
                <a:tc>
                  <a:txBody>
                    <a:bodyPr/>
                    <a:lstStyle/>
                    <a:p>
                      <a:r>
                        <a:rPr sz="1950" b="0">
                          <a:solidFill>
                            <a:srgbClr val="323131"/>
                          </a:solidFill>
                          <a:latin typeface="Arial"/>
                          <a:ea typeface="Arial"/>
                          <a:cs typeface="Arial"/>
                        </a:rPr>
                        <a:t>Technical demand</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Unique claims / accepted receipts</a:t>
                      </a:r>
                    </a:p>
                  </a:txBody>
                  <a:tcPr marL="91440" marR="91440" marT="45720" marB="45720">
                    <a:solidFill>
                      <a:srgbClr val="FFFFFF"/>
                    </a:solidFill>
                  </a:tcPr>
                </a:tc>
                <a:tc>
                  <a:txBody>
                    <a:bodyPr/>
                    <a:lstStyle/>
                    <a:p>
                      <a:r>
                        <a:rPr sz="1950" b="0">
                          <a:solidFill>
                            <a:srgbClr val="323131"/>
                          </a:solidFill>
                          <a:latin typeface="Arial"/>
                          <a:ea typeface="Arial"/>
                          <a:cs typeface="Arial"/>
                        </a:rPr>
                        <a:t>Service work received</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429 / 503 with retry guidance</a:t>
                      </a:r>
                    </a:p>
                  </a:txBody>
                  <a:tcPr marL="91440" marR="91440" marT="45720" marB="45720">
                    <a:solidFill>
                      <a:srgbClr val="FFFFFF"/>
                    </a:solidFill>
                  </a:tcPr>
                </a:tc>
                <a:tc>
                  <a:txBody>
                    <a:bodyPr/>
                    <a:lstStyle/>
                    <a:p>
                      <a:r>
                        <a:rPr sz="1950" b="0">
                          <a:solidFill>
                            <a:srgbClr val="323131"/>
                          </a:solidFill>
                          <a:latin typeface="Arial"/>
                          <a:ea typeface="Arial"/>
                          <a:cs typeface="Arial"/>
                        </a:rPr>
                        <a:t>Temporary technical refusal</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Business refusal</a:t>
                      </a:r>
                    </a:p>
                  </a:txBody>
                  <a:tcPr marL="91440" marR="91440" marT="45720" marB="45720">
                    <a:solidFill>
                      <a:srgbClr val="FFFFFF"/>
                    </a:solidFill>
                  </a:tcPr>
                </a:tc>
                <a:tc>
                  <a:txBody>
                    <a:bodyPr/>
                    <a:lstStyle/>
                    <a:p>
                      <a:r>
                        <a:rPr sz="1950" b="0">
                          <a:solidFill>
                            <a:srgbClr val="323131"/>
                          </a:solidFill>
                          <a:latin typeface="Arial"/>
                          <a:ea typeface="Arial"/>
                          <a:cs typeface="Arial"/>
                        </a:rPr>
                        <a:t>Service-owned domain decision</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Queue wait / worker time</a:t>
                      </a:r>
                    </a:p>
                  </a:txBody>
                  <a:tcPr marL="91440" marR="91440" marT="45720" marB="45720">
                    <a:solidFill>
                      <a:srgbClr val="FFFFFF"/>
                    </a:solidFill>
                  </a:tcPr>
                </a:tc>
                <a:tc>
                  <a:txBody>
                    <a:bodyPr/>
                    <a:lstStyle/>
                    <a:p>
                      <a:r>
                        <a:rPr sz="1950" b="0">
                          <a:solidFill>
                            <a:srgbClr val="323131"/>
                          </a:solidFill>
                          <a:latin typeface="Arial"/>
                          <a:ea typeface="Arial"/>
                          <a:cs typeface="Arial"/>
                        </a:rPr>
                        <a:t>Different sources of delay</a:t>
                      </a:r>
                    </a:p>
                  </a:txBody>
                  <a:tcPr marL="91440" marR="91440" marT="45720" marB="45720">
                    <a:solidFill>
                      <a:srgbClr val="FFFFFF"/>
                    </a:solidFill>
                  </a:tcPr>
                </a:tc>
              </a:tr>
            </a:tbl>
          </a:graphicData>
        </a:graphic>
      </p:graphicFrame>
      <p:sp>
        <p:nvSpPr>
          <p:cNvPr id="3" name="disclosure">
            <a:extLst xmlns:a="http://schemas.openxmlformats.org/drawingml/2006/main">
              <a:ext uri="{FF2B5EF4-FFF2-40B4-BE49-F238E27FC236}">
                <a16:creationId xmlns:a16="http://schemas.microsoft.com/office/drawing/2014/main" id="{8AC28157-4E82-4B3A-BE30-248CCC3142E6}"/>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4" name="page">
            <a:extLst xmlns:a="http://schemas.openxmlformats.org/drawingml/2006/main">
              <a:ext uri="{FF2B5EF4-FFF2-40B4-BE49-F238E27FC236}">
                <a16:creationId xmlns:a16="http://schemas.microsoft.com/office/drawing/2014/main" id="{8BE26EC7-16E5-4BB8-8454-1F53A1415DAE}"/>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11</a:t>
            </a:r>
          </a:p>
        </p:txBody>
      </p:sp>
    </p:spTree>
    <p:extLst>
      <p:ext uri="{BB962C8B-B14F-4D97-AF65-F5344CB8AC3E}">
        <p14:creationId xmlns:p14="http://schemas.microsoft.com/office/powerpoint/2010/main" val="2074769525"/>
      </p:ext>
    </p:extLst>
  </p:cSld>
</p:sld>
</file>

<file path=ppt/slides/slide12.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9C00C47-0962-4D0E-97C9-42AB9B2021FA}"/>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Durable acceptance and revocation</a:t>
            </a:r>
          </a:p>
        </p:txBody>
      </p:sp>
      <p:sp>
        <p:nvSpPr>
          <p:cNvPr id="2" name="paragraph-0">
            <a:extLst xmlns:a="http://schemas.openxmlformats.org/drawingml/2006/main">
              <a:ext uri="{FF2B5EF4-FFF2-40B4-BE49-F238E27FC236}">
                <a16:creationId xmlns:a16="http://schemas.microsoft.com/office/drawing/2014/main" id="{914C82BE-6BF3-4C8C-99C3-4A020F3BF3AB}"/>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HMRC returns an asynchronous receipt after storage commits. The worker records the claim later.</a:t>
            </a:r>
          </a:p>
        </p:txBody>
      </p:sp>
      <p:sp>
        <p:nvSpPr>
          <p:cNvPr id="3" name="paragraph-1">
            <a:extLst xmlns:a="http://schemas.openxmlformats.org/drawingml/2006/main">
              <a:ext uri="{FF2B5EF4-FFF2-40B4-BE49-F238E27FC236}">
                <a16:creationId xmlns:a16="http://schemas.microsoft.com/office/drawing/2014/main" id="{3503CAEA-DAA5-4070-B8DD-E2DD5FA419E0}"/>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A retry uses the stored operation result. Revocation prevents new authorised work.</a:t>
            </a:r>
          </a:p>
        </p:txBody>
      </p:sp>
      <p:sp>
        <p:nvSpPr>
          <p:cNvPr id="4" name="disclosure">
            <a:extLst xmlns:a="http://schemas.openxmlformats.org/drawingml/2006/main">
              <a:ext uri="{FF2B5EF4-FFF2-40B4-BE49-F238E27FC236}">
                <a16:creationId xmlns:a16="http://schemas.microsoft.com/office/drawing/2014/main" id="{AC6A68AD-D91E-41DE-B06D-6DDF094DF0F4}"/>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E5DAA9AC-BD58-404F-8A9C-DF18C85F0069}"/>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12</a:t>
            </a:r>
          </a:p>
        </p:txBody>
      </p:sp>
    </p:spTree>
    <p:extLst>
      <p:ext uri="{BB962C8B-B14F-4D97-AF65-F5344CB8AC3E}">
        <p14:creationId xmlns:p14="http://schemas.microsoft.com/office/powerpoint/2010/main" val="96193816"/>
      </p:ext>
    </p:extLst>
  </p:cSld>
</p:sld>
</file>

<file path=ppt/slides/slide13.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9F4E924-17EA-4DC3-ADAD-9799675D23A3}"/>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A second service owns its integration</a:t>
            </a:r>
          </a:p>
        </p:txBody>
      </p:sp>
      <p:sp>
        <p:nvSpPr>
          <p:cNvPr id="2" name="paragraph-0">
            <a:extLst xmlns:a="http://schemas.openxmlformats.org/drawingml/2006/main">
              <a:ext uri="{FF2B5EF4-FFF2-40B4-BE49-F238E27FC236}">
                <a16:creationId xmlns:a16="http://schemas.microsoft.com/office/drawing/2014/main" id="{2EA249A3-EBB6-40FD-9C0C-3C20E7597398}"/>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The council owns its catalogue, credential and case records.</a:t>
            </a:r>
          </a:p>
        </p:txBody>
      </p:sp>
      <p:sp>
        <p:nvSpPr>
          <p:cNvPr id="3" name="paragraph-1">
            <a:extLst xmlns:a="http://schemas.openxmlformats.org/drawingml/2006/main">
              <a:ext uri="{FF2B5EF4-FFF2-40B4-BE49-F238E27FC236}">
                <a16:creationId xmlns:a16="http://schemas.microsoft.com/office/drawing/2014/main" id="{42141EA2-D5F2-4231-89A7-95CC020CEE85}"/>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It uses the generic consent and authority contract and checks case ownership itself.</a:t>
            </a:r>
          </a:p>
        </p:txBody>
      </p:sp>
      <p:sp>
        <p:nvSpPr>
          <p:cNvPr id="4" name="disclosure">
            <a:extLst xmlns:a="http://schemas.openxmlformats.org/drawingml/2006/main">
              <a:ext uri="{FF2B5EF4-FFF2-40B4-BE49-F238E27FC236}">
                <a16:creationId xmlns:a16="http://schemas.microsoft.com/office/drawing/2014/main" id="{A3930BCC-99E9-4C7A-995F-5947CFB42F3D}"/>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8A339ED0-DE92-42B9-897D-1C390EBCF4AD}"/>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13</a:t>
            </a:r>
          </a:p>
        </p:txBody>
      </p:sp>
    </p:spTree>
    <p:extLst>
      <p:ext uri="{BB962C8B-B14F-4D97-AF65-F5344CB8AC3E}">
        <p14:creationId xmlns:p14="http://schemas.microsoft.com/office/powerpoint/2010/main" val="421444301"/>
      </p:ext>
    </p:extLst>
  </p:cSld>
</p:sld>
</file>

<file path=ppt/slides/slide14.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A3BF1C7-74CB-484A-9B95-F907EF0CBB5C}"/>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Observation has different strengths</a:t>
            </a:r>
          </a:p>
        </p:txBody>
      </p:sp>
      <p:graphicFrame>
        <p:nvGraphicFramePr>
          <p:cNvPr id="2" name="">
            <a:extLst xmlns:a="http://schemas.openxmlformats.org/drawingml/2006/main">
              <a:ext uri="{FF2B5EF4-FFF2-40B4-BE49-F238E27FC236}">
                <a16:creationId xmlns:a16="http://schemas.microsoft.com/office/drawing/2014/main" id="{95C59C16-AA15-4770-B490-A7EFD405D922}"/>
              </a:ext>
            </a:extLst>
          </p:cNvPr>
          <p:cNvGraphicFramePr/>
          <p:nvPr/>
        </p:nvGraphicFramePr>
        <p:xfrm>
          <a:off xmlns:a="http://schemas.openxmlformats.org/drawingml/2006/main" x="685800" y="2266950"/>
          <a:ext xmlns:a="http://schemas.openxmlformats.org/drawingml/2006/main" cx="10820400" cy="3238500"/>
        </p:xfrm>
        <a:graphic xmlns:a="http://schemas.openxmlformats.org/drawingml/2006/main">
          <a:graphicData uri="http://schemas.openxmlformats.org/drawingml/2006/table">
            <a:tbl>
              <a:tblPr/>
              <a:tblGrid>
                <a:gridCol w="4000500"/>
                <a:gridCol w="6819900"/>
              </a:tblGrid>
              <a:tr h="647700">
                <a:tc>
                  <a:txBody>
                    <a:bodyPr/>
                    <a:lstStyle/>
                    <a:p>
                      <a:r>
                        <a:rPr sz="1950" b="1">
                          <a:solidFill>
                            <a:srgbClr val="FFFFFF"/>
                          </a:solidFill>
                          <a:latin typeface="Arial"/>
                          <a:ea typeface="Arial"/>
                          <a:cs typeface="Arial"/>
                        </a:rPr>
                        <a:t>Evidence</a:t>
                      </a:r>
                    </a:p>
                  </a:txBody>
                  <a:tcPr marL="91440" marR="91440" marT="45720" marB="45720">
                    <a:solidFill>
                      <a:srgbClr val="323131"/>
                    </a:solidFill>
                  </a:tcPr>
                </a:tc>
                <a:tc>
                  <a:txBody>
                    <a:bodyPr/>
                    <a:lstStyle/>
                    <a:p>
                      <a:r>
                        <a:rPr sz="1950" b="1">
                          <a:solidFill>
                            <a:srgbClr val="FFFFFF"/>
                          </a:solidFill>
                          <a:latin typeface="Arial"/>
                          <a:ea typeface="Arial"/>
                          <a:cs typeface="Arial"/>
                        </a:rPr>
                        <a:t>Limit</a:t>
                      </a:r>
                    </a:p>
                  </a:txBody>
                  <a:tcPr marL="91440" marR="91440" marT="45720" marB="45720">
                    <a:solidFill>
                      <a:srgbClr val="323131"/>
                    </a:solidFill>
                  </a:tcPr>
                </a:tc>
              </a:tr>
              <a:tr h="647700">
                <a:tc>
                  <a:txBody>
                    <a:bodyPr/>
                    <a:lstStyle/>
                    <a:p>
                      <a:r>
                        <a:rPr sz="1950" b="0">
                          <a:solidFill>
                            <a:srgbClr val="323131"/>
                          </a:solidFill>
                          <a:latin typeface="Arial"/>
                          <a:ea typeface="Arial"/>
                          <a:cs typeface="Arial"/>
                        </a:rPr>
                        <a:t>Verified request and grant</a:t>
                      </a:r>
                    </a:p>
                  </a:txBody>
                  <a:tcPr marL="91440" marR="91440" marT="45720" marB="45720">
                    <a:solidFill>
                      <a:srgbClr val="FFFFFF"/>
                    </a:solidFill>
                  </a:tcPr>
                </a:tc>
                <a:tc>
                  <a:txBody>
                    <a:bodyPr/>
                    <a:lstStyle/>
                    <a:p>
                      <a:r>
                        <a:rPr sz="1950" b="0">
                          <a:solidFill>
                            <a:srgbClr val="323131"/>
                          </a:solidFill>
                          <a:latin typeface="Arial"/>
                          <a:ea typeface="Arial"/>
                          <a:cs typeface="Arial"/>
                        </a:rPr>
                        <a:t>Proves supported identity/authority facts</a:t>
                      </a:r>
                    </a:p>
                  </a:txBody>
                  <a:tcPr marL="91440" marR="91440" marT="45720" marB="45720">
                    <a:solidFill>
                      <a:srgbClr val="FFFFFF"/>
                    </a:solidFill>
                  </a:tcPr>
                </a:tc>
              </a:tr>
              <a:tr h="647700">
                <a:tc>
                  <a:txBody>
                    <a:bodyPr/>
                    <a:lstStyle/>
                    <a:p>
                      <a:r>
                        <a:rPr sz="1950" b="0">
                          <a:solidFill>
                            <a:srgbClr val="323131"/>
                          </a:solidFill>
                          <a:latin typeface="Arial"/>
                          <a:ea typeface="Arial"/>
                          <a:cs typeface="Arial"/>
                        </a:rPr>
                        <a:t>HTTP / browser / behaviour signals</a:t>
                      </a:r>
                    </a:p>
                  </a:txBody>
                  <a:tcPr marL="91440" marR="91440" marT="45720" marB="45720">
                    <a:solidFill>
                      <a:srgbClr val="FFFFFF"/>
                    </a:solidFill>
                  </a:tcPr>
                </a:tc>
                <a:tc>
                  <a:txBody>
                    <a:bodyPr/>
                    <a:lstStyle/>
                    <a:p>
                      <a:r>
                        <a:rPr sz="1950" b="0">
                          <a:solidFill>
                            <a:srgbClr val="323131"/>
                          </a:solidFill>
                          <a:latin typeface="Arial"/>
                          <a:ea typeface="Arial"/>
                          <a:cs typeface="Arial"/>
                        </a:rPr>
                        <a:t>Coverage varies by route and device</a:t>
                      </a:r>
                    </a:p>
                  </a:txBody>
                  <a:tcPr marL="91440" marR="91440" marT="45720" marB="45720">
                    <a:solidFill>
                      <a:srgbClr val="FFFFFF"/>
                    </a:solidFill>
                  </a:tcPr>
                </a:tc>
              </a:tr>
              <a:tr h="647700">
                <a:tc>
                  <a:txBody>
                    <a:bodyPr/>
                    <a:lstStyle/>
                    <a:p>
                      <a:r>
                        <a:rPr sz="1950" b="0">
                          <a:solidFill>
                            <a:srgbClr val="323131"/>
                          </a:solidFill>
                          <a:latin typeface="Arial"/>
                          <a:ea typeface="Arial"/>
                          <a:cs typeface="Arial"/>
                        </a:rPr>
                        <a:t>Classifier output</a:t>
                      </a:r>
                    </a:p>
                  </a:txBody>
                  <a:tcPr marL="91440" marR="91440" marT="45720" marB="45720">
                    <a:solidFill>
                      <a:srgbClr val="FFFFFF"/>
                    </a:solidFill>
                  </a:tcPr>
                </a:tc>
                <a:tc>
                  <a:txBody>
                    <a:bodyPr/>
                    <a:lstStyle/>
                    <a:p>
                      <a:r>
                        <a:rPr sz="1950" b="0">
                          <a:solidFill>
                            <a:srgbClr val="323131"/>
                          </a:solidFill>
                          <a:latin typeface="Arial"/>
                          <a:ea typeface="Arial"/>
                          <a:cs typeface="Arial"/>
                        </a:rPr>
                        <a:t>Depends on features, thresholds and validation</a:t>
                      </a:r>
                    </a:p>
                  </a:txBody>
                  <a:tcPr marL="91440" marR="91440" marT="45720" marB="45720">
                    <a:solidFill>
                      <a:srgbClr val="FFFFFF"/>
                    </a:solidFill>
                  </a:tcPr>
                </a:tc>
              </a:tr>
              <a:tr h="647700">
                <a:tc>
                  <a:txBody>
                    <a:bodyPr/>
                    <a:lstStyle/>
                    <a:p>
                      <a:r>
                        <a:rPr sz="1950" b="0">
                          <a:solidFill>
                            <a:srgbClr val="323131"/>
                          </a:solidFill>
                          <a:latin typeface="Arial"/>
                          <a:ea typeface="Arial"/>
                          <a:cs typeface="Arial"/>
                        </a:rPr>
                        <a:t>Protected execution label</a:t>
                      </a:r>
                    </a:p>
                  </a:txBody>
                  <a:tcPr marL="91440" marR="91440" marT="45720" marB="45720">
                    <a:solidFill>
                      <a:srgbClr val="FFFFFF"/>
                    </a:solidFill>
                  </a:tcPr>
                </a:tc>
                <a:tc>
                  <a:txBody>
                    <a:bodyPr/>
                    <a:lstStyle/>
                    <a:p>
                      <a:r>
                        <a:rPr sz="1950" b="0">
                          <a:solidFill>
                            <a:srgbClr val="323131"/>
                          </a:solidFill>
                          <a:latin typeface="Arial"/>
                          <a:ea typeface="Arial"/>
                          <a:cs typeface="Arial"/>
                        </a:rPr>
                        <a:t>Describes the enrolled research run</a:t>
                      </a:r>
                    </a:p>
                  </a:txBody>
                  <a:tcPr marL="91440" marR="91440" marT="45720" marB="45720">
                    <a:solidFill>
                      <a:srgbClr val="FFFFFF"/>
                    </a:solidFill>
                  </a:tcPr>
                </a:tc>
              </a:tr>
            </a:tbl>
          </a:graphicData>
        </a:graphic>
      </p:graphicFrame>
      <p:sp>
        <p:nvSpPr>
          <p:cNvPr id="3" name="disclosure">
            <a:extLst xmlns:a="http://schemas.openxmlformats.org/drawingml/2006/main">
              <a:ext uri="{FF2B5EF4-FFF2-40B4-BE49-F238E27FC236}">
                <a16:creationId xmlns:a16="http://schemas.microsoft.com/office/drawing/2014/main" id="{12EF9DD4-5475-4693-9AE7-C72BFAED1F9C}"/>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4" name="page">
            <a:extLst xmlns:a="http://schemas.openxmlformats.org/drawingml/2006/main">
              <a:ext uri="{FF2B5EF4-FFF2-40B4-BE49-F238E27FC236}">
                <a16:creationId xmlns:a16="http://schemas.microsoft.com/office/drawing/2014/main" id="{8A3E1965-8E1A-4E62-A39E-033F304A75F9}"/>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14</a:t>
            </a:r>
          </a:p>
        </p:txBody>
      </p:sp>
    </p:spTree>
    <p:extLst>
      <p:ext uri="{BB962C8B-B14F-4D97-AF65-F5344CB8AC3E}">
        <p14:creationId xmlns:p14="http://schemas.microsoft.com/office/powerpoint/2010/main" val="1928748763"/>
      </p:ext>
    </p:extLst>
  </p:cSld>
</p:sld>
</file>

<file path=ppt/slides/slide15.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10C843F-AE93-473F-ABB8-D92A19EE0021}"/>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Contemporaneous observations</a:t>
            </a:r>
          </a:p>
        </p:txBody>
      </p:sp>
      <p:sp>
        <p:nvSpPr>
          <p:cNvPr id="2" name="paragraph-0">
            <a:extLst xmlns:a="http://schemas.openxmlformats.org/drawingml/2006/main">
              <a:ext uri="{FF2B5EF4-FFF2-40B4-BE49-F238E27FC236}">
                <a16:creationId xmlns:a16="http://schemas.microsoft.com/office/drawing/2014/main" id="{C2DDB330-FAC7-4B12-8FFD-3E87E5926899}"/>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Tom's WhenIsBins work observed existing agents using a live service.</a:t>
            </a:r>
          </a:p>
        </p:txBody>
      </p:sp>
      <p:sp>
        <p:nvSpPr>
          <p:cNvPr id="3" name="paragraph-1">
            <a:extLst xmlns:a="http://schemas.openxmlformats.org/drawingml/2006/main">
              <a:ext uri="{FF2B5EF4-FFF2-40B4-BE49-F238E27FC236}">
                <a16:creationId xmlns:a16="http://schemas.microsoft.com/office/drawing/2014/main" id="{BEF10A19-CE3D-4F9C-8760-EB122B969469}"/>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Observatory supports repeatable collection and inspection in a controlled synthetic service.</a:t>
            </a:r>
          </a:p>
        </p:txBody>
      </p:sp>
      <p:sp>
        <p:nvSpPr>
          <p:cNvPr id="4" name="disclosure">
            <a:extLst xmlns:a="http://schemas.openxmlformats.org/drawingml/2006/main">
              <a:ext uri="{FF2B5EF4-FFF2-40B4-BE49-F238E27FC236}">
                <a16:creationId xmlns:a16="http://schemas.microsoft.com/office/drawing/2014/main" id="{2732A04C-D7E6-4213-B300-551A928347C8}"/>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DCFB79CE-6EAF-4D9B-849D-8275F960E821}"/>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15</a:t>
            </a:r>
          </a:p>
        </p:txBody>
      </p:sp>
    </p:spTree>
    <p:extLst>
      <p:ext uri="{BB962C8B-B14F-4D97-AF65-F5344CB8AC3E}">
        <p14:creationId xmlns:p14="http://schemas.microsoft.com/office/powerpoint/2010/main" val="1298993996"/>
      </p:ext>
    </p:extLst>
  </p:cSld>
</p:sld>
</file>

<file path=ppt/slides/slide16.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58F8667-4131-43EB-BFD3-B40E0502AEF5}"/>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Centralisation and standards remain open</a:t>
            </a:r>
          </a:p>
        </p:txBody>
      </p:sp>
      <p:graphicFrame>
        <p:nvGraphicFramePr>
          <p:cNvPr id="2" name="">
            <a:extLst xmlns:a="http://schemas.openxmlformats.org/drawingml/2006/main">
              <a:ext uri="{FF2B5EF4-FFF2-40B4-BE49-F238E27FC236}">
                <a16:creationId xmlns:a16="http://schemas.microsoft.com/office/drawing/2014/main" id="{2E99A7AF-7BD4-43A7-A6EC-05D3251624F8}"/>
              </a:ext>
            </a:extLst>
          </p:cNvPr>
          <p:cNvGraphicFramePr/>
          <p:nvPr/>
        </p:nvGraphicFramePr>
        <p:xfrm>
          <a:off xmlns:a="http://schemas.openxmlformats.org/drawingml/2006/main" x="685800" y="2266950"/>
          <a:ext xmlns:a="http://schemas.openxmlformats.org/drawingml/2006/main" cx="10820400" cy="3524250"/>
        </p:xfrm>
        <a:graphic xmlns:a="http://schemas.openxmlformats.org/drawingml/2006/main">
          <a:graphicData uri="http://schemas.openxmlformats.org/drawingml/2006/table">
            <a:tbl>
              <a:tblPr/>
              <a:tblGrid>
                <a:gridCol w="4000500"/>
                <a:gridCol w="6819900"/>
              </a:tblGrid>
              <a:tr h="587375">
                <a:tc>
                  <a:txBody>
                    <a:bodyPr/>
                    <a:lstStyle/>
                    <a:p>
                      <a:r>
                        <a:rPr sz="1950" b="1">
                          <a:solidFill>
                            <a:srgbClr val="FFFFFF"/>
                          </a:solidFill>
                          <a:latin typeface="Arial"/>
                          <a:ea typeface="Arial"/>
                          <a:cs typeface="Arial"/>
                        </a:rPr>
                        <a:t>Question</a:t>
                      </a:r>
                    </a:p>
                  </a:txBody>
                  <a:tcPr marL="91440" marR="91440" marT="45720" marB="45720">
                    <a:solidFill>
                      <a:srgbClr val="323131"/>
                    </a:solidFill>
                  </a:tcPr>
                </a:tc>
                <a:tc>
                  <a:txBody>
                    <a:bodyPr/>
                    <a:lstStyle/>
                    <a:p>
                      <a:r>
                        <a:rPr sz="1950" b="1">
                          <a:solidFill>
                            <a:srgbClr val="FFFFFF"/>
                          </a:solidFill>
                          <a:latin typeface="Arial"/>
                          <a:ea typeface="Arial"/>
                          <a:cs typeface="Arial"/>
                        </a:rPr>
                        <a:t>Options for discussion</a:t>
                      </a:r>
                    </a:p>
                  </a:txBody>
                  <a:tcPr marL="91440" marR="91440" marT="45720" marB="45720">
                    <a:solidFill>
                      <a:srgbClr val="323131"/>
                    </a:solidFill>
                  </a:tcPr>
                </a:tc>
              </a:tr>
              <a:tr h="587375">
                <a:tc>
                  <a:txBody>
                    <a:bodyPr/>
                    <a:lstStyle/>
                    <a:p>
                      <a:r>
                        <a:rPr sz="1950" b="0">
                          <a:solidFill>
                            <a:srgbClr val="323131"/>
                          </a:solidFill>
                          <a:latin typeface="Arial"/>
                          <a:ea typeface="Arial"/>
                          <a:cs typeface="Arial"/>
                        </a:rPr>
                        <a:t>Authority records</a:t>
                      </a:r>
                    </a:p>
                  </a:txBody>
                  <a:tcPr marL="91440" marR="91440" marT="45720" marB="45720">
                    <a:solidFill>
                      <a:srgbClr val="FFFFFF"/>
                    </a:solidFill>
                  </a:tcPr>
                </a:tc>
                <a:tc>
                  <a:txBody>
                    <a:bodyPr/>
                    <a:lstStyle/>
                    <a:p>
                      <a:r>
                        <a:rPr sz="1950" b="0">
                          <a:solidFill>
                            <a:srgbClr val="323131"/>
                          </a:solidFill>
                          <a:latin typeface="Arial"/>
                          <a:ea typeface="Arial"/>
                          <a:cs typeface="Arial"/>
                        </a:rPr>
                        <a:t>Central, departmental or hybrid issuers</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Verification</a:t>
                      </a:r>
                    </a:p>
                  </a:txBody>
                  <a:tcPr marL="91440" marR="91440" marT="45720" marB="45720">
                    <a:solidFill>
                      <a:srgbClr val="FFFFFF"/>
                    </a:solidFill>
                  </a:tcPr>
                </a:tc>
                <a:tc>
                  <a:txBody>
                    <a:bodyPr/>
                    <a:lstStyle/>
                    <a:p>
                      <a:r>
                        <a:rPr sz="1950" b="0">
                          <a:solidFill>
                            <a:srgbClr val="323131"/>
                          </a:solidFill>
                          <a:latin typeface="Arial"/>
                          <a:ea typeface="Arial"/>
                          <a:cs typeface="Arial"/>
                        </a:rPr>
                        <a:t>Online checks, portable proofs or a hybrid</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Shared standards</a:t>
                      </a:r>
                    </a:p>
                  </a:txBody>
                  <a:tcPr marL="91440" marR="91440" marT="45720" marB="45720">
                    <a:solidFill>
                      <a:srgbClr val="FFFFFF"/>
                    </a:solidFill>
                  </a:tcPr>
                </a:tc>
                <a:tc>
                  <a:txBody>
                    <a:bodyPr/>
                    <a:lstStyle/>
                    <a:p>
                      <a:r>
                        <a:rPr sz="1950" b="0">
                          <a:solidFill>
                            <a:srgbClr val="323131"/>
                          </a:solidFill>
                          <a:latin typeface="Arial"/>
                          <a:ea typeface="Arial"/>
                          <a:cs typeface="Arial"/>
                        </a:rPr>
                        <a:t>Minimum contract with service-owned semantics</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Existing standards</a:t>
                      </a:r>
                    </a:p>
                  </a:txBody>
                  <a:tcPr marL="91440" marR="91440" marT="45720" marB="45720">
                    <a:solidFill>
                      <a:srgbClr val="FFFFFF"/>
                    </a:solidFill>
                  </a:tcPr>
                </a:tc>
                <a:tc>
                  <a:txBody>
                    <a:bodyPr/>
                    <a:lstStyle/>
                    <a:p>
                      <a:r>
                        <a:rPr sz="1950" b="0">
                          <a:solidFill>
                            <a:srgbClr val="323131"/>
                          </a:solidFill>
                          <a:latin typeface="Arial"/>
                          <a:ea typeface="Arial"/>
                          <a:cs typeface="Arial"/>
                        </a:rPr>
                        <a:t>Consume suitable identity/authority evidence</a:t>
                      </a:r>
                    </a:p>
                  </a:txBody>
                  <a:tcPr marL="91440" marR="91440" marT="45720" marB="45720">
                    <a:solidFill>
                      <a:srgbClr val="FFFFFF"/>
                    </a:solidFill>
                  </a:tcPr>
                </a:tc>
              </a:tr>
              <a:tr h="587375">
                <a:tc>
                  <a:txBody>
                    <a:bodyPr/>
                    <a:lstStyle/>
                    <a:p>
                      <a:r>
                        <a:rPr sz="1950" b="0">
                          <a:solidFill>
                            <a:srgbClr val="323131"/>
                          </a:solidFill>
                          <a:latin typeface="Arial"/>
                          <a:ea typeface="Arial"/>
                          <a:cs typeface="Arial"/>
                        </a:rPr>
                        <a:t>Citizen view</a:t>
                      </a:r>
                    </a:p>
                  </a:txBody>
                  <a:tcPr marL="91440" marR="91440" marT="45720" marB="45720">
                    <a:solidFill>
                      <a:srgbClr val="FFFFFF"/>
                    </a:solidFill>
                  </a:tcPr>
                </a:tc>
                <a:tc>
                  <a:txBody>
                    <a:bodyPr/>
                    <a:lstStyle/>
                    <a:p>
                      <a:r>
                        <a:rPr sz="1950" b="0">
                          <a:solidFill>
                            <a:srgbClr val="323131"/>
                          </a:solidFill>
                          <a:latin typeface="Arial"/>
                          <a:ea typeface="Arial"/>
                          <a:cs typeface="Arial"/>
                        </a:rPr>
                        <a:t>Combine grants with explicit provenance</a:t>
                      </a:r>
                    </a:p>
                  </a:txBody>
                  <a:tcPr marL="91440" marR="91440" marT="45720" marB="45720">
                    <a:solidFill>
                      <a:srgbClr val="FFFFFF"/>
                    </a:solidFill>
                  </a:tcPr>
                </a:tc>
              </a:tr>
            </a:tbl>
          </a:graphicData>
        </a:graphic>
      </p:graphicFrame>
      <p:sp>
        <p:nvSpPr>
          <p:cNvPr id="3" name="disclosure">
            <a:extLst xmlns:a="http://schemas.openxmlformats.org/drawingml/2006/main">
              <a:ext uri="{FF2B5EF4-FFF2-40B4-BE49-F238E27FC236}">
                <a16:creationId xmlns:a16="http://schemas.microsoft.com/office/drawing/2014/main" id="{AABB7608-B6EC-4650-960E-366D8D4F9AA5}"/>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4" name="page">
            <a:extLst xmlns:a="http://schemas.openxmlformats.org/drawingml/2006/main">
              <a:ext uri="{FF2B5EF4-FFF2-40B4-BE49-F238E27FC236}">
                <a16:creationId xmlns:a16="http://schemas.microsoft.com/office/drawing/2014/main" id="{9E8A2E90-726B-4578-91FF-008B94D0B726}"/>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16</a:t>
            </a:r>
          </a:p>
        </p:txBody>
      </p:sp>
    </p:spTree>
    <p:extLst>
      <p:ext uri="{BB962C8B-B14F-4D97-AF65-F5344CB8AC3E}">
        <p14:creationId xmlns:p14="http://schemas.microsoft.com/office/powerpoint/2010/main" val="865125911"/>
      </p:ext>
    </p:extLst>
  </p:cSld>
</p:sld>
</file>

<file path=ppt/slides/slide17.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0F5FF6C-658F-4E33-BE5E-767892F62B4B}"/>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Conditions for a useful trial</a:t>
            </a:r>
          </a:p>
        </p:txBody>
      </p:sp>
      <p:sp>
        <p:nvSpPr>
          <p:cNvPr id="2" name="paragraph-0">
            <a:extLst xmlns:a="http://schemas.openxmlformats.org/drawingml/2006/main">
              <a:ext uri="{FF2B5EF4-FFF2-40B4-BE49-F238E27FC236}">
                <a16:creationId xmlns:a16="http://schemas.microsoft.com/office/drawing/2014/main" id="{594F7785-0DE3-4262-B139-11CF02347A68}"/>
              </a:ext>
            </a:extLst>
          </p:cNvPr>
          <p:cNvSpPr>
            <a:spLocks xmlns:a="http://schemas.openxmlformats.org/drawingml/2006/main" noGrp="1"/>
          </p:cNvSpPr>
          <p:nvPr/>
        </p:nvSpPr>
        <p:spPr>
          <a:xfrm xmlns:a="http://schemas.openxmlformats.org/drawingml/2006/main">
            <a:off x="685800" y="226695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Choose a concrete service task and establish what authority the department can recognise.</a:t>
            </a:r>
          </a:p>
        </p:txBody>
      </p:sp>
      <p:sp>
        <p:nvSpPr>
          <p:cNvPr id="3" name="paragraph-1">
            <a:extLst xmlns:a="http://schemas.openxmlformats.org/drawingml/2006/main">
              <a:ext uri="{FF2B5EF4-FFF2-40B4-BE49-F238E27FC236}">
                <a16:creationId xmlns:a16="http://schemas.microsoft.com/office/drawing/2014/main" id="{7C87B84B-EA9C-40CA-9788-81B0D35FAA02}"/>
              </a:ext>
            </a:extLst>
          </p:cNvPr>
          <p:cNvSpPr>
            <a:spLocks xmlns:a="http://schemas.openxmlformats.org/drawingml/2006/main" noGrp="1"/>
          </p:cNvSpPr>
          <p:nvPr/>
        </p:nvSpPr>
        <p:spPr>
          <a:xfrm xmlns:a="http://schemas.openxmlformats.org/drawingml/2006/main">
            <a:off x="685800" y="3619500"/>
            <a:ext cx="1028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Measure citizen effort and access failures, agent adoption, unexplained activity and investigation effort.</a:t>
            </a:r>
          </a:p>
        </p:txBody>
      </p:sp>
      <p:sp>
        <p:nvSpPr>
          <p:cNvPr id="4" name="disclosure">
            <a:extLst xmlns:a="http://schemas.openxmlformats.org/drawingml/2006/main">
              <a:ext uri="{FF2B5EF4-FFF2-40B4-BE49-F238E27FC236}">
                <a16:creationId xmlns:a16="http://schemas.microsoft.com/office/drawing/2014/main" id="{FFDE583E-5EE3-4F11-9337-94CFC981BF6B}"/>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5" name="page">
            <a:extLst xmlns:a="http://schemas.openxmlformats.org/drawingml/2006/main">
              <a:ext uri="{FF2B5EF4-FFF2-40B4-BE49-F238E27FC236}">
                <a16:creationId xmlns:a16="http://schemas.microsoft.com/office/drawing/2014/main" id="{696DF8CA-B1ED-46FC-BABE-740DF424539C}"/>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17</a:t>
            </a:r>
          </a:p>
        </p:txBody>
      </p:sp>
    </p:spTree>
    <p:extLst>
      <p:ext uri="{BB962C8B-B14F-4D97-AF65-F5344CB8AC3E}">
        <p14:creationId xmlns:p14="http://schemas.microsoft.com/office/powerpoint/2010/main" val="492604871"/>
      </p:ext>
    </p:extLst>
  </p:cSld>
</p:sld>
</file>

<file path=ppt/slides/slide18.xml><?xml version="1.0" encoding="utf-8"?>
<p:sld xmlns:p="http://schemas.openxmlformats.org/presentationml/2006/main">
  <p:cSld>
    <p:bg>
      <p:bgPr>
        <a:solidFill xmlns:a="http://schemas.openxmlformats.org/drawingml/2006/main">
          <a:srgbClr val="F7F3F3"/>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00897DF-C0E7-4BB2-9611-9DB6B5B91B63}"/>
              </a:ext>
            </a:extLst>
          </p:cNvPr>
          <p:cNvSpPr>
            <a:spLocks xmlns:a="http://schemas.openxmlformats.org/drawingml/2006/main" noGrp="1"/>
          </p:cNvSpPr>
          <p:nvPr/>
        </p:nvSpPr>
        <p:spPr>
          <a:xfrm xmlns:a="http://schemas.openxmlformats.org/drawingml/2006/main">
            <a:off x="685800" y="666750"/>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323131"/>
                </a:solidFill>
                <a:latin typeface="Arial"/>
                <a:ea typeface="Arial"/>
                <a:cs typeface="Arial"/>
              </a:defRPr>
            </a:defPPr>
          </a:lstStyle>
          <a:p xmlns:a="http://schemas.openxmlformats.org/drawingml/2006/main">
            <a:pPr>
              <a:defRPr sz="3600" b="1">
                <a:solidFill>
                  <a:srgbClr val="323131"/>
                </a:solidFill>
                <a:latin typeface="Arial"/>
                <a:ea typeface="Arial"/>
                <a:cs typeface="Arial"/>
              </a:defRPr>
            </a:pPr>
            <a:r>
              <a:rPr sz="3600" b="1">
                <a:solidFill>
                  <a:srgbClr val="323131"/>
                </a:solidFill>
                <a:latin typeface="Arial"/>
                <a:ea typeface="Arial"/>
                <a:cs typeface="Arial"/>
              </a:rPr>
              <a:t>Questions for service and platform owners</a:t>
            </a:r>
          </a:p>
        </p:txBody>
      </p:sp>
      <p:sp>
        <p:nvSpPr>
          <p:cNvPr id="2" name="paragraph-0">
            <a:extLst xmlns:a="http://schemas.openxmlformats.org/drawingml/2006/main">
              <a:ext uri="{FF2B5EF4-FFF2-40B4-BE49-F238E27FC236}">
                <a16:creationId xmlns:a16="http://schemas.microsoft.com/office/drawing/2014/main" id="{7403DA04-C869-40CE-ACDC-EDB5B1554F91}"/>
              </a:ext>
            </a:extLst>
          </p:cNvPr>
          <p:cNvSpPr>
            <a:spLocks xmlns:a="http://schemas.openxmlformats.org/drawingml/2006/main" noGrp="1"/>
          </p:cNvSpPr>
          <p:nvPr/>
        </p:nvSpPr>
        <p:spPr>
          <a:xfrm xmlns:a="http://schemas.openxmlformats.org/drawingml/2006/main">
            <a:off x="685800" y="22669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Which actions can use standing permission, and which need approval of the precise act?</a:t>
            </a:r>
          </a:p>
        </p:txBody>
      </p:sp>
      <p:sp>
        <p:nvSpPr>
          <p:cNvPr id="3" name="paragraph-1">
            <a:extLst xmlns:a="http://schemas.openxmlformats.org/drawingml/2006/main">
              <a:ext uri="{FF2B5EF4-FFF2-40B4-BE49-F238E27FC236}">
                <a16:creationId xmlns:a16="http://schemas.microsoft.com/office/drawing/2014/main" id="{6CB47771-8C20-48D2-8041-9C4E863A91BC}"/>
              </a:ext>
            </a:extLst>
          </p:cNvPr>
          <p:cNvSpPr>
            <a:spLocks xmlns:a="http://schemas.openxmlformats.org/drawingml/2006/main" noGrp="1"/>
          </p:cNvSpPr>
          <p:nvPr/>
        </p:nvSpPr>
        <p:spPr>
          <a:xfrm xmlns:a="http://schemas.openxmlformats.org/drawingml/2006/main">
            <a:off x="685800" y="33337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Which existing authority sources should Delegate recognise?</a:t>
            </a:r>
          </a:p>
        </p:txBody>
      </p:sp>
      <p:sp>
        <p:nvSpPr>
          <p:cNvPr id="4" name="paragraph-2">
            <a:extLst xmlns:a="http://schemas.openxmlformats.org/drawingml/2006/main">
              <a:ext uri="{FF2B5EF4-FFF2-40B4-BE49-F238E27FC236}">
                <a16:creationId xmlns:a16="http://schemas.microsoft.com/office/drawing/2014/main" id="{A9A31F17-54B5-4E3E-BBEC-C16BB63BC6CB}"/>
              </a:ext>
            </a:extLst>
          </p:cNvPr>
          <p:cNvSpPr>
            <a:spLocks xmlns:a="http://schemas.openxmlformats.org/drawingml/2006/main" noGrp="1"/>
          </p:cNvSpPr>
          <p:nvPr/>
        </p:nvSpPr>
        <p:spPr>
          <a:xfrm xmlns:a="http://schemas.openxmlformats.org/drawingml/2006/main">
            <a:off x="685800" y="44005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323131"/>
                </a:solidFill>
                <a:latin typeface="Arial"/>
                <a:ea typeface="Arial"/>
                <a:cs typeface="Arial"/>
              </a:defRPr>
            </a:defPPr>
          </a:lstStyle>
          <a:p xmlns:a="http://schemas.openxmlformats.org/drawingml/2006/main">
            <a:pPr>
              <a:defRPr sz="2550" b="0">
                <a:solidFill>
                  <a:srgbClr val="323131"/>
                </a:solidFill>
                <a:latin typeface="Arial"/>
                <a:ea typeface="Arial"/>
                <a:cs typeface="Arial"/>
              </a:defRPr>
            </a:pPr>
            <a:r>
              <a:rPr sz="2550" b="0">
                <a:solidFill>
                  <a:srgbClr val="323131"/>
                </a:solidFill>
                <a:latin typeface="Arial"/>
                <a:ea typeface="Arial"/>
                <a:cs typeface="Arial"/>
              </a:rPr>
              <a:t>Which minimum evidence and service contract would make participation worthwhile?</a:t>
            </a:r>
          </a:p>
        </p:txBody>
      </p:sp>
      <p:sp>
        <p:nvSpPr>
          <p:cNvPr id="5" name="disclosure">
            <a:extLst xmlns:a="http://schemas.openxmlformats.org/drawingml/2006/main">
              <a:ext uri="{FF2B5EF4-FFF2-40B4-BE49-F238E27FC236}">
                <a16:creationId xmlns:a16="http://schemas.microsoft.com/office/drawing/2014/main" id="{8C3F7545-1DAE-486B-94B6-86A3905CC3D8}"/>
              </a:ext>
            </a:extLst>
          </p:cNvPr>
          <p:cNvSpPr>
            <a:spLocks xmlns:a="http://schemas.openxmlformats.org/drawingml/2006/main" noGrp="1"/>
          </p:cNvSpPr>
          <p:nvPr/>
        </p:nvSpPr>
        <p:spPr>
          <a:xfrm xmlns:a="http://schemas.openxmlformats.org/drawingml/2006/main">
            <a:off x="685800" y="6362700"/>
            <a:ext cx="914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Independent synthetic prototype</a:t>
            </a:r>
          </a:p>
        </p:txBody>
      </p:sp>
      <p:sp>
        <p:nvSpPr>
          <p:cNvPr id="6" name="page">
            <a:extLst xmlns:a="http://schemas.openxmlformats.org/drawingml/2006/main">
              <a:ext uri="{FF2B5EF4-FFF2-40B4-BE49-F238E27FC236}">
                <a16:creationId xmlns:a16="http://schemas.microsoft.com/office/drawing/2014/main" id="{7B57F6AB-2121-4275-86F1-9BC2C0B09CF2}"/>
              </a:ext>
            </a:extLst>
          </p:cNvPr>
          <p:cNvSpPr>
            <a:spLocks xmlns:a="http://schemas.openxmlformats.org/drawingml/2006/main" noGrp="1"/>
          </p:cNvSpPr>
          <p:nvPr/>
        </p:nvSpPr>
        <p:spPr>
          <a:xfrm xmlns:a="http://schemas.openxmlformats.org/drawingml/2006/main">
            <a:off x="10953750" y="636270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A5555"/>
                </a:solidFill>
                <a:latin typeface="Arial"/>
                <a:ea typeface="Arial"/>
                <a:cs typeface="Arial"/>
              </a:defRPr>
            </a:defPPr>
          </a:lstStyle>
          <a:p xmlns:a="http://schemas.openxmlformats.org/drawingml/2006/main">
            <a:pPr>
              <a:defRPr sz="1350" b="0">
                <a:solidFill>
                  <a:srgbClr val="5A5555"/>
                </a:solidFill>
                <a:latin typeface="Arial"/>
                <a:ea typeface="Arial"/>
                <a:cs typeface="Arial"/>
              </a:defRPr>
            </a:pPr>
            <a:r>
              <a:rPr sz="1350" b="0">
                <a:solidFill>
                  <a:srgbClr val="5A5555"/>
                </a:solidFill>
                <a:latin typeface="Arial"/>
                <a:ea typeface="Arial"/>
                <a:cs typeface="Arial"/>
              </a:rPr>
              <a:t>18</a:t>
            </a:r>
          </a:p>
        </p:txBody>
      </p:sp>
    </p:spTree>
    <p:extLst>
      <p:ext uri="{BB962C8B-B14F-4D97-AF65-F5344CB8AC3E}">
        <p14:creationId xmlns:p14="http://schemas.microsoft.com/office/powerpoint/2010/main" val="8681352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2026-10-10T14:44:23.0430000Z</dcterms:created>
  <dcterms:modified xsi:type="dcterms:W3CDTF">2026-10-10T14:44:23.0430000Z</dcterms:modified>
</coreProperties>
</file>