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ff17781e454151" /><Relationship Type="http://schemas.openxmlformats.org/officeDocument/2006/relationships/extended-properties" Target="/docProps/app.xml" Id="R254736a9e39f4806" /><Relationship Type="http://schemas.openxmlformats.org/officeDocument/2006/relationships/officeDocument" Target="/ppt/presentation.xml" Id="R536927cdbfb24303" /></Relationships>
</file>

<file path=ppt/presentation.xml><?xml version="1.0" encoding="utf-8"?>
<p:presentation xmlns:p="http://schemas.openxmlformats.org/presentationml/2006/main">
  <p:sldMasterIdLst>
    <p:sldMasterId xmlns:r="http://schemas.openxmlformats.org/officeDocument/2006/relationships" id="2147483648" r:id="R409640eae0954471"/>
  </p:sldMasterIdLst>
  <p:notesMasterIdLst>
    <p:notesMasterId xmlns:r="http://schemas.openxmlformats.org/officeDocument/2006/relationships" r:id="Rffaa4912da04448a"/>
  </p:notesMasterIdLst>
  <p:sldIdLst>
    <p:sldId xmlns:r="http://schemas.openxmlformats.org/officeDocument/2006/relationships" id="256" r:id="R767a7ee9b3774056"/>
    <p:sldId xmlns:r="http://schemas.openxmlformats.org/officeDocument/2006/relationships" id="257" r:id="Rf77e2f778c1b4177"/>
    <p:sldId xmlns:r="http://schemas.openxmlformats.org/officeDocument/2006/relationships" id="258" r:id="R05f71e6330ff47f7"/>
    <p:sldId xmlns:r="http://schemas.openxmlformats.org/officeDocument/2006/relationships" id="259" r:id="R41095c4412ea41a9"/>
    <p:sldId xmlns:r="http://schemas.openxmlformats.org/officeDocument/2006/relationships" id="260" r:id="R46ed9a004fb04024"/>
    <p:sldId xmlns:r="http://schemas.openxmlformats.org/officeDocument/2006/relationships" id="261" r:id="R043b3f9a796241de"/>
    <p:sldId xmlns:r="http://schemas.openxmlformats.org/officeDocument/2006/relationships" id="262" r:id="Rd5833c2938244c6d"/>
    <p:sldId xmlns:r="http://schemas.openxmlformats.org/officeDocument/2006/relationships" id="263" r:id="Rb17fbd7e174842fc"/>
    <p:sldId xmlns:r="http://schemas.openxmlformats.org/officeDocument/2006/relationships" id="264" r:id="R6145413a35854b76"/>
    <p:sldId xmlns:r="http://schemas.openxmlformats.org/officeDocument/2006/relationships" id="265" r:id="Re76efdbce9e945ea"/>
    <p:sldId xmlns:r="http://schemas.openxmlformats.org/officeDocument/2006/relationships" id="266" r:id="R2bb434306bb743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5691b448714f33" /><Relationship Type="http://schemas.openxmlformats.org/officeDocument/2006/relationships/slideMaster" Target="/ppt/slideMasters/slideMaster1.xml" Id="R409640eae0954471" /><Relationship Type="http://schemas.openxmlformats.org/officeDocument/2006/relationships/notesMaster" Target="/ppt/notesMasters/notesMaster1.xml" Id="Rffaa4912da04448a" /><Relationship Type="http://schemas.openxmlformats.org/officeDocument/2006/relationships/presProps" Target="/ppt/presProps.xml" Id="R9ac56005d60c45b5" /><Relationship Type="http://schemas.openxmlformats.org/officeDocument/2006/relationships/tableStyles" Target="/ppt/tableStyles.xml" Id="R7859b8ecb96c43a0" /><Relationship Type="http://schemas.openxmlformats.org/officeDocument/2006/relationships/slide" Target="/ppt/slides/slide1.xml" Id="R767a7ee9b3774056" /><Relationship Type="http://schemas.openxmlformats.org/officeDocument/2006/relationships/slide" Target="/ppt/slides/slide2.xml" Id="Rf77e2f778c1b4177" /><Relationship Type="http://schemas.openxmlformats.org/officeDocument/2006/relationships/slide" Target="/ppt/slides/slide3.xml" Id="R05f71e6330ff47f7" /><Relationship Type="http://schemas.openxmlformats.org/officeDocument/2006/relationships/slide" Target="/ppt/slides/slide4.xml" Id="R41095c4412ea41a9" /><Relationship Type="http://schemas.openxmlformats.org/officeDocument/2006/relationships/slide" Target="/ppt/slides/slide5.xml" Id="R46ed9a004fb04024" /><Relationship Type="http://schemas.openxmlformats.org/officeDocument/2006/relationships/slide" Target="/ppt/slides/slide6.xml" Id="R043b3f9a796241de" /><Relationship Type="http://schemas.openxmlformats.org/officeDocument/2006/relationships/slide" Target="/ppt/slides/slide7.xml" Id="Rd5833c2938244c6d" /><Relationship Type="http://schemas.openxmlformats.org/officeDocument/2006/relationships/slide" Target="/ppt/slides/slide8.xml" Id="Rb17fbd7e174842fc" /><Relationship Type="http://schemas.openxmlformats.org/officeDocument/2006/relationships/slide" Target="/ppt/slides/slide9.xml" Id="R6145413a35854b76" /><Relationship Type="http://schemas.openxmlformats.org/officeDocument/2006/relationships/slide" Target="/ppt/slides/slide10.xml" Id="Re76efdbce9e945ea" /><Relationship Type="http://schemas.openxmlformats.org/officeDocument/2006/relationships/slide" Target="/ppt/slides/slide11.xml" Id="R2bb434306bb743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4c182c416740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cc238ba2224054" /><Relationship Type="http://schemas.openxmlformats.org/officeDocument/2006/relationships/notesMaster" Target="/ppt/notesMasters/notesMaster1.xml" Id="R1e99235268dc45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d18ff016ea4a44" /><Relationship Type="http://schemas.openxmlformats.org/officeDocument/2006/relationships/notesMaster" Target="/ppt/notesMasters/notesMaster1.xml" Id="Rd47e3e7571c04a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47d069ab124eae" /><Relationship Type="http://schemas.openxmlformats.org/officeDocument/2006/relationships/notesMaster" Target="/ppt/notesMasters/notesMaster1.xml" Id="R753772c4faf442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a735854708429d" /><Relationship Type="http://schemas.openxmlformats.org/officeDocument/2006/relationships/notesMaster" Target="/ppt/notesMasters/notesMaster1.xml" Id="R65ed9b3bb39c4f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15b33b146a4ffb" /><Relationship Type="http://schemas.openxmlformats.org/officeDocument/2006/relationships/notesMaster" Target="/ppt/notesMasters/notesMaster1.xml" Id="Rd450d2e3cd9647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574d67592845b3" /><Relationship Type="http://schemas.openxmlformats.org/officeDocument/2006/relationships/notesMaster" Target="/ppt/notesMasters/notesMaster1.xml" Id="R4dce5157781c42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50579fb69340d9" /><Relationship Type="http://schemas.openxmlformats.org/officeDocument/2006/relationships/notesMaster" Target="/ppt/notesMasters/notesMaster1.xml" Id="Ra1fac8aea1db4f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c033ab971b4f27" /><Relationship Type="http://schemas.openxmlformats.org/officeDocument/2006/relationships/notesMaster" Target="/ppt/notesMasters/notesMaster1.xml" Id="R091e6aa6317e4d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f6621574044837" /><Relationship Type="http://schemas.openxmlformats.org/officeDocument/2006/relationships/notesMaster" Target="/ppt/notesMasters/notesMaster1.xml" Id="Rbb6bc8ab41ec47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7cea9e933947e6" /><Relationship Type="http://schemas.openxmlformats.org/officeDocument/2006/relationships/notesMaster" Target="/ppt/notesMasters/notesMaster1.xml" Id="Rf0a23dd21cc041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7a70a2c25c4829" /><Relationship Type="http://schemas.openxmlformats.org/officeDocument/2006/relationships/notesMaster" Target="/ppt/notesMasters/notesMaster1.xml" Id="Ra59bc72781664d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independent prototype using synthetic people and services. An agent here is software that can use a service for someone. The person chooses the assistant. The demo explores the arrangement government could offer, rather than asking government to build everyone's assistant. Allow about ten minutes including the short demonstration.</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HMRC is the main product precedent. Keep its request, independent approval and removal pattern visible. Existing human representation rules do not by themselves establish the legal status of AI actions. The sources addendum covers other relevant precedents and their limits.</a:t>
            </a:r>
          </a:p>
          <a:p xmlns:a="http://schemas.openxmlformats.org/drawingml/2006/main">
            <a:r>
              <a:t/>
            </a:r>
          </a:p>
          <a:p xmlns:a="http://schemas.openxmlformats.org/drawingml/2006/main">
            <a:r>
              <a:t>Sources</a:t>
            </a:r>
          </a:p>
          <a:p xmlns:a="http://schemas.openxmlformats.org/drawingml/2006/main">
            <a:r>
              <a:t>HMRC digital handshake: https://www.gov.uk/guidance/how-to-use-the-digital-handshake-to-get-authorised-as-a-tax-agent</a:t>
            </a:r>
          </a:p>
          <a:p xmlns:a="http://schemas.openxmlformats.org/drawingml/2006/main">
            <a:r>
              <a:t>HMRC removal of agent authorisation: https://www.gov.uk/guidance/change-or-remove-your-tax-agents-authorisation</a:t>
            </a:r>
          </a:p>
          <a:p xmlns:a="http://schemas.openxmlformats.org/drawingml/2006/main">
            <a:r>
              <a:t>Government delegated authority guidance: https://www.gov.uk/guidance/delegated-authority-guidance</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A: use the prepared synthetic approval and action rehearsal described in DEMO_RUNBOOK.md. Show the unchecked consent choices and expiry. The assistant has its own credential and never needs Sam's password. Demonstrate the refusal as well as the successful claim. If using a scripted API client, identify it as scripted.</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Service-defined restrictions: https://github.com/sighmoan1/govuk-delegate-starter/blob/6b4f3895f246cfe9e274059c57e4dc1ea7989650/docs/MANDATE_CONSTRAINTS.md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Demo A with the account detail and Remove access controls. Show a later refusal with the same client identity. A prior completed action stays in the record. A job durably accepted before removal may still finish. Explain this if someone expects revocation to undo submitted work.</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 run the existing seven-scenario runner at N=10 during rehearsal, then show its actual results. Compare repeated attempts for one person with claims from different people. Read the technical load and claim outcome measures separately. Demo limits are illustrative. HMRC supplies duplicate handling and queue processing in both authority designs.</a:t>
            </a:r>
          </a:p>
          <a:p xmlns:a="http://schemas.openxmlformats.org/drawingml/2006/main">
            <a:r>
              <a:t/>
            </a:r>
          </a:p>
          <a:p xmlns:a="http://schemas.openxmlformats.org/drawingml/2006/main">
            <a:r>
              <a:t>Sources</a:t>
            </a:r>
          </a:p>
          <a:p xmlns:a="http://schemas.openxmlformats.org/drawingml/2006/main">
            <a:r>
              <a:t>Swarm scenarios and accounting: https://github.com/sighmoan1/govuk-delegate-starter/blob/6b4f3895f246cfe9e274059c57e4dc1ea7989650/apps/about/src/app/swarm/page.tsx</a:t>
            </a:r>
          </a:p>
          <a:p xmlns:a="http://schemas.openxmlformats.org/drawingml/2006/main">
            <a:r>
              <a:t>Recorded E2 comparison and preserved raw records: https://github.com/sighmoan1/govuk-delegate-starter/blob/6b4f3895f246cfe9e274059c57e4dc1ea7989650/docs/evidence/RUN-20261009-E2-01.md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declaration supplies a claimed name. Verification establishes the configured identity or signature, and a live relationship establishes scope. Unknown activity may include legitimate people, assistive technology and agents that cannot integrate. A signed-in human route can still conceal automation. Keep these distinctions separate on screen.</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Architecture and ownership: https://github.com/sighmoan1/govuk-delegate-starter/blob/6b4f3895f246cfe9e274059c57e4dc1ea7989650/docs/ARCHITECTURE.md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 requires the unmerged dashboard and classifier PRs in a reviewed isolated stack. Use the read-only monitoring view first. Ground truth in research view describes audited scripted execution, not an inferred label. Combining clues is the proposed approach; its accuracy still needs testing on varied agents and people. Protected execution labels remain separate from predictions. The current deterministic signature stub reports observed signature evidence. It is not a trained AI detector. Actual vendor validation remains outstanding.</a:t>
            </a:r>
          </a:p>
          <a:p xmlns:a="http://schemas.openxmlformats.org/drawingml/2006/main">
            <a:r>
              <a:t/>
            </a:r>
          </a:p>
          <a:p xmlns:a="http://schemas.openxmlformats.org/drawingml/2006/main">
            <a:r>
              <a:t>Sources</a:t>
            </a:r>
          </a:p>
          <a:p xmlns:a="http://schemas.openxmlformats.org/drawingml/2006/main">
            <a:r>
              <a:t>Observatory dashboard, PR 110, unmerged at preparation: https://github.com/sighmoan1/govuk-delegate-starter/pull/110</a:t>
            </a:r>
          </a:p>
          <a:p xmlns:a="http://schemas.openxmlformats.org/drawingml/2006/main">
            <a:r>
              <a:t>Blind classifier contract, PR 109, unmerged at preparation: https://github.com/sighmoan1/govuk-delegate-starter/pull/109</a:t>
            </a:r>
          </a:p>
          <a:p xmlns:a="http://schemas.openxmlformats.org/drawingml/2006/main">
            <a:r>
              <a:t>Real vendor validation still outstanding, issue 68: https://github.com/sighmoan1/govuk-delegate-starter/issues/68</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 small exploratory study is a comparison point. The project chronology comes from the author's account. Compare behaviours on equivalent routes before treating a difference as disagreement. Our test count does not establish broader agent coverage.</a:t>
            </a:r>
          </a:p>
          <a:p xmlns:a="http://schemas.openxmlformats.org/drawingml/2006/main">
            <a:r>
              <a:t/>
            </a:r>
          </a:p>
          <a:p xmlns:a="http://schemas.openxmlformats.org/drawingml/2006/main">
            <a:r>
              <a:t>Sources</a:t>
            </a:r>
          </a:p>
          <a:p xmlns:a="http://schemas.openxmlformats.org/drawingml/2006/main">
            <a:r>
              <a:t>Tom Loosemore: How Agents Show Up, 9 October 2026: https://loosemore.com/2026/10/09/how-agents-show-up-what-muse-and-other-agents-reveal-when-they-use-whenisbins/</a:t>
            </a:r>
          </a:p>
          <a:p xmlns:a="http://schemas.openxmlformats.org/drawingml/2006/main">
            <a:r>
              <a:t>Existing exploratory route observations: https://github.com/sighmoan1/govuk-delegate-starter/blob/6b4f3895f246cfe9e274059c57e4dc1ea7989650/apps/about/src/app/which-route/page.tsx</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project's central adoption and operational-burden hypothesis. It remains unmeasured. Tool limitations, service coverage and consent barriers may leave legitimate agents outside. Authorised agents can still malfunction or abuse permission. Measure residual unexplained activity, investigation effort and access failures alongside adoption.</a:t>
            </a:r>
          </a:p>
          <a:p xmlns:a="http://schemas.openxmlformats.org/drawingml/2006/main">
            <a:r>
              <a:t/>
            </a:r>
          </a:p>
          <a:p xmlns:a="http://schemas.openxmlformats.org/drawingml/2006/main">
            <a:r>
              <a:t>Sources</a:t>
            </a:r>
          </a:p>
          <a:p xmlns:a="http://schemas.openxmlformats.org/drawingml/2006/main">
            <a:r>
              <a:t>Architecture and ownership: https://github.com/sighmoan1/govuk-delegate-starter/blob/6b4f3895f246cfe9e274059c57e4dc1ea7989650/docs/ARCHITECTURE.md</a:t>
            </a:r>
          </a:p>
          <a:p xmlns:a="http://schemas.openxmlformats.org/drawingml/2006/main">
            <a:r>
              <a:t>Open national decisions: https://github.com/sighmoan1/govuk-delegate-starter/blob/6b4f3895f246cfe9e274059c57e4dc1ea7989650/docs/DECISION_BACKLOG.md</a:t>
            </a:r>
          </a:p>
          <a:p xmlns:a="http://schemas.openxmlformats.org/drawingml/2006/main">
            <a:r>
              <a:t>Participant pilot proposal, PR 108, awaiting approval: https://github.com/sighmoan1/govuk-delegate-starter/pull/108</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technical comparison used twenty synthetic citizen fixtures across four blocks. Both routes completed all tested legitimate tasks and prevented tested forbidden or duplicate effects. There were no real-agent or human participants in that comparison. Hundreds of checks describe software coverage. They cannot provide a detection accuracy estimate or an adoption rate. Show the preserved evidence if challenged.</a:t>
            </a:r>
          </a:p>
          <a:p xmlns:a="http://schemas.openxmlformats.org/drawingml/2006/main">
            <a:r>
              <a:t/>
            </a:r>
          </a:p>
          <a:p xmlns:a="http://schemas.openxmlformats.org/drawingml/2006/main">
            <a:r>
              <a:t>Sources</a:t>
            </a:r>
          </a:p>
          <a:p xmlns:a="http://schemas.openxmlformats.org/drawingml/2006/main">
            <a:r>
              <a:t>Recorded E2 comparison and preserved raw records: https://github.com/sighmoan1/govuk-delegate-starter/blob/6b4f3895f246cfe9e274059c57e4dc1ea7989650/docs/evidence/RUN-20261009-E2-01.md</a:t>
            </a:r>
          </a:p>
          <a:p xmlns:a="http://schemas.openxmlformats.org/drawingml/2006/main">
            <a:r>
              <a:t>Recorded combined validation and manual walkthrough: https://github.com/sighmoan1/govuk-delegate-starter/issues/90#issuecomment-6090819665</a:t>
            </a:r>
          </a:p>
          <a:p xmlns:a="http://schemas.openxmlformats.org/drawingml/2006/main">
            <a:r>
              <a:t>Protected execution ledger: https://github.com/sighmoan1/govuk-delegate-starter/blob/6b4f3895f246cfe9e274059c57e4dc1ea7989650/docs/observatory/GROUND_TRUTH.md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audience to explain the idea in their own words. Record what they find confusing and any precedents we have missed. Seek a bounded service example and relevant product, policy, accessibility and security owners. Offer the detailed briefing for people who want to inspect the design. Do not ask them to endorse a national platform on the basis of this demo.</a:t>
            </a:r>
          </a:p>
          <a:p xmlns:a="http://schemas.openxmlformats.org/drawingml/2006/main">
            <a:r>
              <a:t/>
            </a:r>
          </a:p>
          <a:p xmlns:a="http://schemas.openxmlformats.org/drawingml/2006/main">
            <a:r>
              <a:t>Sources</a:t>
            </a:r>
          </a:p>
          <a:p xmlns:a="http://schemas.openxmlformats.org/drawingml/2006/main">
            <a:r>
              <a:t>Open national decisions: https://github.com/sighmoan1/govuk-delegate-starter/blob/6b4f3895f246cfe9e274059c57e4dc1ea7989650/docs/DECISION_BACKLOG.md</a:t>
            </a:r>
          </a:p>
          <a:p xmlns:a="http://schemas.openxmlformats.org/drawingml/2006/main">
            <a:r>
              <a:t>Participant pilot proposal, PR 108, awaiting approval: https://github.com/sighmoan1/govuk-delegate-starter/pull/108</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b9acbd9b684c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20e9ac835f4b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b72312f10b46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de653f1f534e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4efdec93aa44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f5d4b6f9cd41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548D21-B832-40AF-A029-031FE67B2A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4C2936-A74A-4C2F-8404-DCF7B9B130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49CF2D-C99D-4C1B-9F32-998FC1C549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AB5A5A-A662-4601-8D4A-BB2AF99FF3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1A2B08-65E0-429C-9E9A-2FF71A3733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0A71E4-CD53-45B2-BFEA-408A6C28A0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08FCE5-3508-43B0-82FC-300A61EAF5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1CF4DB-296D-445E-874B-3F29F7EDDC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B8CF53-B489-4B41-8444-7AB56E3C71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458444-F2A4-4ABB-8A34-66FC5E8596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066513d66e4a3f" /><Relationship Type="http://schemas.openxmlformats.org/officeDocument/2006/relationships/slideLayout" Target="/ppt/slideLayouts/slideLayout1.xml" Id="R382c1efaedca48ae" /><Relationship Type="http://schemas.openxmlformats.org/officeDocument/2006/relationships/slideLayout" Target="/ppt/slideLayouts/slideLayout2.xml" Id="R776d826013f94574" /><Relationship Type="http://schemas.openxmlformats.org/officeDocument/2006/relationships/slideLayout" Target="/ppt/slideLayouts/slideLayout3.xml" Id="R8235f10be9e74c77" /><Relationship Type="http://schemas.openxmlformats.org/officeDocument/2006/relationships/slideLayout" Target="/ppt/slideLayouts/slideLayout4.xml" Id="Rf439656b86f14478" /><Relationship Type="http://schemas.openxmlformats.org/officeDocument/2006/relationships/slideLayout" Target="/ppt/slideLayouts/slideLayout5.xml" Id="R0f0561ea31014972" /><Relationship Type="http://schemas.openxmlformats.org/officeDocument/2006/relationships/slideLayout" Target="/ppt/slideLayouts/slideLayout6.xml" Id="Rf628982400834b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2c1efaedca48ae"/>
    <p:sldLayoutId xmlns:r="http://schemas.openxmlformats.org/officeDocument/2006/relationships" id="2147483650" r:id="R776d826013f94574"/>
    <p:sldLayoutId xmlns:r="http://schemas.openxmlformats.org/officeDocument/2006/relationships" id="2147483651" r:id="R8235f10be9e74c77"/>
    <p:sldLayoutId xmlns:r="http://schemas.openxmlformats.org/officeDocument/2006/relationships" id="2147483652" r:id="Rf439656b86f14478"/>
    <p:sldLayoutId xmlns:r="http://schemas.openxmlformats.org/officeDocument/2006/relationships" id="2147483653" r:id="R0f0561ea31014972"/>
    <p:sldLayoutId xmlns:r="http://schemas.openxmlformats.org/officeDocument/2006/relationships" id="2147483654" r:id="Rf628982400834b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12afa7487b41d7" /><Relationship Type="http://schemas.openxmlformats.org/officeDocument/2006/relationships/notesSlide" Target="/ppt/notesSlides/notesSlide1.xml" Id="R1005a6714d2847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af3530932d4ba0" /><Relationship Type="http://schemas.openxmlformats.org/officeDocument/2006/relationships/notesSlide" Target="/ppt/notesSlides/notesSlide2.xml" Id="R8048d73b87ba48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e565342852473e" /><Relationship Type="http://schemas.openxmlformats.org/officeDocument/2006/relationships/notesSlide" Target="/ppt/notesSlides/notesSlide3.xml" Id="R89dea6c8ab5e4d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5151a9f987e4e09" /><Relationship Type="http://schemas.openxmlformats.org/officeDocument/2006/relationships/notesSlide" Target="/ppt/notesSlides/notesSlide4.xml" Id="Rd3e75384d59246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a0d44bf7f946cb" /><Relationship Type="http://schemas.openxmlformats.org/officeDocument/2006/relationships/notesSlide" Target="/ppt/notesSlides/notesSlide5.xml" Id="Reea6ccffefa245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2cb90260a74ada" /><Relationship Type="http://schemas.openxmlformats.org/officeDocument/2006/relationships/notesSlide" Target="/ppt/notesSlides/notesSlide6.xml" Id="R87bb164388394e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5372c5b6a948b0" /><Relationship Type="http://schemas.openxmlformats.org/officeDocument/2006/relationships/image" Target="/ppt/media/image.png" Id="Rb312e30a7d634d14" /><Relationship Type="http://schemas.openxmlformats.org/officeDocument/2006/relationships/notesSlide" Target="/ppt/notesSlides/notesSlide7.xml" Id="Rb98df9dfeb914b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24294f3cf424679" /><Relationship Type="http://schemas.openxmlformats.org/officeDocument/2006/relationships/notesSlide" Target="/ppt/notesSlides/notesSlide8.xml" Id="R39f0b3d5fbaf43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e67e085b1d04796" /><Relationship Type="http://schemas.openxmlformats.org/officeDocument/2006/relationships/notesSlide" Target="/ppt/notesSlides/notesSlide9.xml" Id="Rfb042d92ad4d4e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4d7a0be54104dc4" /><Relationship Type="http://schemas.openxmlformats.org/officeDocument/2006/relationships/notesSlide" Target="/ppt/notesSlides/notesSlide10.xml" Id="R1ebf5fb967a64e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c67b09ed11c4abe" /><Relationship Type="http://schemas.openxmlformats.org/officeDocument/2006/relationships/notesSlide" Target="/ppt/notesSlides/notesSlide11.xml" Id="Rdd1ba3a08cfa41b0" /></Relationships>
</file>

<file path=ppt/slides/slide1.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83C1606-0BA4-47B3-BB92-B478D61F47BA}"/>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323131"/>
                </a:solidFill>
                <a:latin typeface="Arial"/>
                <a:ea typeface="Arial"/>
                <a:cs typeface="Arial"/>
              </a:defRPr>
            </a:defPPr>
          </a:lstStyle>
          <a:p xmlns:a="http://schemas.openxmlformats.org/drawingml/2006/main">
            <a:pPr>
              <a:defRPr sz="4350" b="1">
                <a:solidFill>
                  <a:srgbClr val="323131"/>
                </a:solidFill>
                <a:latin typeface="Arial"/>
                <a:ea typeface="Arial"/>
                <a:cs typeface="Arial"/>
              </a:defRPr>
            </a:pPr>
            <a:r>
              <a:rPr sz="4350" b="1">
                <a:solidFill>
                  <a:srgbClr val="323131"/>
                </a:solidFill>
                <a:latin typeface="Arial"/>
                <a:ea typeface="Arial"/>
                <a:cs typeface="Arial"/>
              </a:rPr>
              <a:t>Delegate</a:t>
            </a:r>
          </a:p>
        </p:txBody>
      </p:sp>
      <p:sp>
        <p:nvSpPr>
          <p:cNvPr id="2" name="paragraph-0">
            <a:extLst xmlns:a="http://schemas.openxmlformats.org/drawingml/2006/main">
              <a:ext uri="{FF2B5EF4-FFF2-40B4-BE49-F238E27FC236}">
                <a16:creationId xmlns:a16="http://schemas.microsoft.com/office/drawing/2014/main" id="{B8E516A1-EFE6-4CDE-A91C-2E776662F10F}"/>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323131"/>
                </a:solidFill>
                <a:latin typeface="Arial"/>
                <a:ea typeface="Arial"/>
                <a:cs typeface="Arial"/>
              </a:defRPr>
            </a:defPPr>
          </a:lstStyle>
          <a:p xmlns:a="http://schemas.openxmlformats.org/drawingml/2006/main">
            <a:pPr>
              <a:defRPr sz="2700" b="0">
                <a:solidFill>
                  <a:srgbClr val="323131"/>
                </a:solidFill>
                <a:latin typeface="Arial"/>
                <a:ea typeface="Arial"/>
                <a:cs typeface="Arial"/>
              </a:defRPr>
            </a:pPr>
            <a:r>
              <a:rPr sz="2700" b="0">
                <a:solidFill>
                  <a:srgbClr val="323131"/>
                </a:solidFill>
                <a:latin typeface="Arial"/>
                <a:ea typeface="Arial"/>
                <a:cs typeface="Arial"/>
              </a:rPr>
              <a:t>A person gives an assistant limited permission to deal with government.</a:t>
            </a:r>
          </a:p>
        </p:txBody>
      </p:sp>
      <p:sp>
        <p:nvSpPr>
          <p:cNvPr id="3" name="paragraph-1">
            <a:extLst xmlns:a="http://schemas.openxmlformats.org/drawingml/2006/main">
              <a:ext uri="{FF2B5EF4-FFF2-40B4-BE49-F238E27FC236}">
                <a16:creationId xmlns:a16="http://schemas.microsoft.com/office/drawing/2014/main" id="{9AC64013-ED4B-43EE-98EF-19178922598A}"/>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323131"/>
                </a:solidFill>
                <a:latin typeface="Arial"/>
                <a:ea typeface="Arial"/>
                <a:cs typeface="Arial"/>
              </a:defRPr>
            </a:defPPr>
          </a:lstStyle>
          <a:p xmlns:a="http://schemas.openxmlformats.org/drawingml/2006/main">
            <a:pPr>
              <a:defRPr sz="2700" b="0">
                <a:solidFill>
                  <a:srgbClr val="323131"/>
                </a:solidFill>
                <a:latin typeface="Arial"/>
                <a:ea typeface="Arial"/>
                <a:cs typeface="Arial"/>
              </a:defRPr>
            </a:pPr>
            <a:r>
              <a:rPr sz="2700" b="0">
                <a:solidFill>
                  <a:srgbClr val="323131"/>
                </a:solidFill>
                <a:latin typeface="Arial"/>
                <a:ea typeface="Arial"/>
                <a:cs typeface="Arial"/>
              </a:rPr>
              <a:t>The service checks that permission. The person can inspect the activity and remove access.</a:t>
            </a:r>
          </a:p>
        </p:txBody>
      </p:sp>
      <p:sp>
        <p:nvSpPr>
          <p:cNvPr id="4" name="disclosure">
            <a:extLst xmlns:a="http://schemas.openxmlformats.org/drawingml/2006/main">
              <a:ext uri="{FF2B5EF4-FFF2-40B4-BE49-F238E27FC236}">
                <a16:creationId xmlns:a16="http://schemas.microsoft.com/office/drawing/2014/main" id="{C359A8B6-F200-46CC-A673-21FA61C322FF}"/>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A3678A71-CB19-41EE-ADE7-BEA26DFC3373}"/>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a:t>
            </a:r>
          </a:p>
        </p:txBody>
      </p:sp>
    </p:spTree>
    <p:extLst>
      <p:ext uri="{BB962C8B-B14F-4D97-AF65-F5344CB8AC3E}">
        <p14:creationId xmlns:p14="http://schemas.microsoft.com/office/powerpoint/2010/main" val="834885187"/>
      </p:ext>
    </p:extLst>
  </p:cSld>
</p:sld>
</file>

<file path=ppt/slides/slide2.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9B96352-C0F4-4283-835A-8EC226E11FF3}"/>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Government already recognises representatives</a:t>
            </a:r>
          </a:p>
        </p:txBody>
      </p:sp>
      <p:sp>
        <p:nvSpPr>
          <p:cNvPr id="2" name="paragraph-0">
            <a:extLst xmlns:a="http://schemas.openxmlformats.org/drawingml/2006/main">
              <a:ext uri="{FF2B5EF4-FFF2-40B4-BE49-F238E27FC236}">
                <a16:creationId xmlns:a16="http://schemas.microsoft.com/office/drawing/2014/main" id="{9D37DA50-B8A4-4B68-A8AC-CC890EE244F9}"/>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HMRC has an agent request and client approval journey. Clients can remove that authorisation.</a:t>
            </a:r>
          </a:p>
        </p:txBody>
      </p:sp>
      <p:sp>
        <p:nvSpPr>
          <p:cNvPr id="3" name="paragraph-1">
            <a:extLst xmlns:a="http://schemas.openxmlformats.org/drawingml/2006/main">
              <a:ext uri="{FF2B5EF4-FFF2-40B4-BE49-F238E27FC236}">
                <a16:creationId xmlns:a16="http://schemas.microsoft.com/office/drawing/2014/main" id="{57D80E83-2D28-4A00-A06C-0134F67C6FF8}"/>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Delegate adapts that relationship to software agents and makes the permission available to participating services.</a:t>
            </a:r>
          </a:p>
        </p:txBody>
      </p:sp>
      <p:sp>
        <p:nvSpPr>
          <p:cNvPr id="4" name="disclosure">
            <a:extLst xmlns:a="http://schemas.openxmlformats.org/drawingml/2006/main">
              <a:ext uri="{FF2B5EF4-FFF2-40B4-BE49-F238E27FC236}">
                <a16:creationId xmlns:a16="http://schemas.microsoft.com/office/drawing/2014/main" id="{7CDA060F-8B60-4369-BBE2-525D6D40C340}"/>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DC83808F-D25E-4579-BC10-5BE4BD4C4E7C}"/>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2</a:t>
            </a:r>
          </a:p>
        </p:txBody>
      </p:sp>
    </p:spTree>
    <p:extLst>
      <p:ext uri="{BB962C8B-B14F-4D97-AF65-F5344CB8AC3E}">
        <p14:creationId xmlns:p14="http://schemas.microsoft.com/office/powerpoint/2010/main" val="1614887490"/>
      </p:ext>
    </p:extLst>
  </p:cSld>
</p:sld>
</file>

<file path=ppt/slides/slide3.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8B7C720-DD59-4929-AFD3-01F479972632}"/>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Sam chooses the permission</a:t>
            </a:r>
          </a:p>
        </p:txBody>
      </p:sp>
      <p:sp>
        <p:nvSpPr>
          <p:cNvPr id="2" name="paragraph-0">
            <a:extLst xmlns:a="http://schemas.openxmlformats.org/drawingml/2006/main">
              <a:ext uri="{FF2B5EF4-FFF2-40B4-BE49-F238E27FC236}">
                <a16:creationId xmlns:a16="http://schemas.microsoft.com/office/drawing/2014/main" id="{94AE524C-C7B0-4C1C-95AD-5555D80736A9}"/>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Sam lets her Personal assistant read her tax code and submit a job-expenses claim.</a:t>
            </a:r>
          </a:p>
        </p:txBody>
      </p:sp>
      <p:sp>
        <p:nvSpPr>
          <p:cNvPr id="3" name="paragraph-1">
            <a:extLst xmlns:a="http://schemas.openxmlformats.org/drawingml/2006/main">
              <a:ext uri="{FF2B5EF4-FFF2-40B4-BE49-F238E27FC236}">
                <a16:creationId xmlns:a16="http://schemas.microsoft.com/office/drawing/2014/main" id="{9C97CB9C-7F02-4E30-B8EF-F0808026D57B}"/>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She leaves employment changes outside the grant. HMRC refuses that attempt.</a:t>
            </a:r>
          </a:p>
        </p:txBody>
      </p:sp>
      <p:sp>
        <p:nvSpPr>
          <p:cNvPr id="4" name="disclosure">
            <a:extLst xmlns:a="http://schemas.openxmlformats.org/drawingml/2006/main">
              <a:ext uri="{FF2B5EF4-FFF2-40B4-BE49-F238E27FC236}">
                <a16:creationId xmlns:a16="http://schemas.microsoft.com/office/drawing/2014/main" id="{EEB1246F-B128-4D46-BD87-DDFC6EDE14FB}"/>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AEA717C5-70BB-4065-B0CF-A354688695CD}"/>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3</a:t>
            </a:r>
          </a:p>
        </p:txBody>
      </p:sp>
    </p:spTree>
    <p:extLst>
      <p:ext uri="{BB962C8B-B14F-4D97-AF65-F5344CB8AC3E}">
        <p14:creationId xmlns:p14="http://schemas.microsoft.com/office/powerpoint/2010/main" val="223565753"/>
      </p:ext>
    </p:extLst>
  </p:cSld>
</p:sld>
</file>

<file path=ppt/slides/slide4.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51BC0CC-0C96-411A-B4F1-20B3C21465FF}"/>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Sam can inspect and withdraw access</a:t>
            </a:r>
          </a:p>
        </p:txBody>
      </p:sp>
      <p:sp>
        <p:nvSpPr>
          <p:cNvPr id="2" name="paragraph-0">
            <a:extLst xmlns:a="http://schemas.openxmlformats.org/drawingml/2006/main">
              <a:ext uri="{FF2B5EF4-FFF2-40B4-BE49-F238E27FC236}">
                <a16:creationId xmlns:a16="http://schemas.microsoft.com/office/drawing/2014/main" id="{0B9063A7-EE74-4430-8B1C-74D67F8FBD2E}"/>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The account shows permission checks and service-reported outcomes.</a:t>
            </a:r>
          </a:p>
        </p:txBody>
      </p:sp>
      <p:sp>
        <p:nvSpPr>
          <p:cNvPr id="3" name="paragraph-1">
            <a:extLst xmlns:a="http://schemas.openxmlformats.org/drawingml/2006/main">
              <a:ext uri="{FF2B5EF4-FFF2-40B4-BE49-F238E27FC236}">
                <a16:creationId xmlns:a16="http://schemas.microsoft.com/office/drawing/2014/main" id="{EC02ECC5-70B0-4E63-A218-B361BE8BB4B3}"/>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After Sam removes access, HMRC refuses the next request.</a:t>
            </a:r>
          </a:p>
        </p:txBody>
      </p:sp>
      <p:sp>
        <p:nvSpPr>
          <p:cNvPr id="4" name="disclosure">
            <a:extLst xmlns:a="http://schemas.openxmlformats.org/drawingml/2006/main">
              <a:ext uri="{FF2B5EF4-FFF2-40B4-BE49-F238E27FC236}">
                <a16:creationId xmlns:a16="http://schemas.microsoft.com/office/drawing/2014/main" id="{8CD71DD6-6B50-44C5-8081-77C0B857DFCB}"/>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4E278715-88D4-4839-B12F-F72D419ED859}"/>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4</a:t>
            </a:r>
          </a:p>
        </p:txBody>
      </p:sp>
    </p:spTree>
    <p:extLst>
      <p:ext uri="{BB962C8B-B14F-4D97-AF65-F5344CB8AC3E}">
        <p14:creationId xmlns:p14="http://schemas.microsoft.com/office/powerpoint/2010/main" val="1368252280"/>
      </p:ext>
    </p:extLst>
  </p:cSld>
</p:sld>
</file>

<file path=ppt/slides/slide5.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3FC22D6-A8A7-46BC-A84D-DE4C1D138C69}"/>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More requests can mean different things</a:t>
            </a:r>
          </a:p>
        </p:txBody>
      </p:sp>
      <p:graphicFrame>
        <p:nvGraphicFramePr>
          <p:cNvPr id="2" name="">
            <a:extLst xmlns:a="http://schemas.openxmlformats.org/drawingml/2006/main">
              <a:ext uri="{FF2B5EF4-FFF2-40B4-BE49-F238E27FC236}">
                <a16:creationId xmlns:a16="http://schemas.microsoft.com/office/drawing/2014/main" id="{284EFF05-57E3-4C4A-9A0D-2B3AD16EDE18}"/>
              </a:ext>
            </a:extLst>
          </p:cNvPr>
          <p:cNvGraphicFramePr/>
          <p:nvPr/>
        </p:nvGraphicFramePr>
        <p:xfrm>
          <a:off xmlns:a="http://schemas.openxmlformats.org/drawingml/2006/main" x="685800" y="2266950"/>
          <a:ext xmlns:a="http://schemas.openxmlformats.org/drawingml/2006/main" cx="10820400" cy="2590800"/>
        </p:xfrm>
        <a:graphic xmlns:a="http://schemas.openxmlformats.org/drawingml/2006/main">
          <a:graphicData uri="http://schemas.openxmlformats.org/drawingml/2006/table">
            <a:tbl>
              <a:tblPr/>
              <a:tblGrid>
                <a:gridCol w="4000500"/>
                <a:gridCol w="6819900"/>
              </a:tblGrid>
              <a:tr h="647700">
                <a:tc>
                  <a:txBody>
                    <a:bodyPr/>
                    <a:lstStyle/>
                    <a:p>
                      <a:r>
                        <a:rPr sz="1950" b="1">
                          <a:solidFill>
                            <a:srgbClr val="FFFFFF"/>
                          </a:solidFill>
                          <a:latin typeface="Arial"/>
                          <a:ea typeface="Arial"/>
                          <a:cs typeface="Arial"/>
                        </a:rPr>
                        <a:t>Traffic</a:t>
                      </a:r>
                    </a:p>
                  </a:txBody>
                  <a:tcPr marL="91440" marR="91440" marT="45720" marB="45720">
                    <a:solidFill>
                      <a:srgbClr val="323131"/>
                    </a:solidFill>
                  </a:tcPr>
                </a:tc>
                <a:tc>
                  <a:txBody>
                    <a:bodyPr/>
                    <a:lstStyle/>
                    <a:p>
                      <a:r>
                        <a:rPr sz="1950" b="1">
                          <a:solidFill>
                            <a:srgbClr val="FFFFFF"/>
                          </a:solidFill>
                          <a:latin typeface="Arial"/>
                          <a:ea typeface="Arial"/>
                          <a:cs typeface="Arial"/>
                        </a:rPr>
                        <a:t>Service response</a:t>
                      </a:r>
                    </a:p>
                  </a:txBody>
                  <a:tcPr marL="91440" marR="91440" marT="45720" marB="45720">
                    <a:solidFill>
                      <a:srgbClr val="323131"/>
                    </a:solidFill>
                  </a:tcPr>
                </a:tc>
              </a:tr>
              <a:tr h="647700">
                <a:tc>
                  <a:txBody>
                    <a:bodyPr/>
                    <a:lstStyle/>
                    <a:p>
                      <a:r>
                        <a:rPr sz="1950" b="0">
                          <a:solidFill>
                            <a:srgbClr val="323131"/>
                          </a:solidFill>
                          <a:latin typeface="Arial"/>
                          <a:ea typeface="Arial"/>
                          <a:cs typeface="Arial"/>
                        </a:rPr>
                        <a:t>Repeated attempts for one claim</a:t>
                      </a:r>
                    </a:p>
                  </a:txBody>
                  <a:tcPr marL="91440" marR="91440" marT="45720" marB="45720">
                    <a:solidFill>
                      <a:srgbClr val="FFFFFF"/>
                    </a:solidFill>
                  </a:tcPr>
                </a:tc>
                <a:tc>
                  <a:txBody>
                    <a:bodyPr/>
                    <a:lstStyle/>
                    <a:p>
                      <a:r>
                        <a:rPr sz="1950" b="0">
                          <a:solidFill>
                            <a:srgbClr val="323131"/>
                          </a:solidFill>
                          <a:latin typeface="Arial"/>
                          <a:ea typeface="Arial"/>
                          <a:cs typeface="Arial"/>
                        </a:rPr>
                        <a:t>One claim, with repeat attempts recorded</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Claims from different people</a:t>
                      </a:r>
                    </a:p>
                  </a:txBody>
                  <a:tcPr marL="91440" marR="91440" marT="45720" marB="45720">
                    <a:solidFill>
                      <a:srgbClr val="FFFFFF"/>
                    </a:solidFill>
                  </a:tcPr>
                </a:tc>
                <a:tc>
                  <a:txBody>
                    <a:bodyPr/>
                    <a:lstStyle/>
                    <a:p>
                      <a:r>
                        <a:rPr sz="1950" b="0">
                          <a:solidFill>
                            <a:srgbClr val="323131"/>
                          </a:solidFill>
                          <a:latin typeface="Arial"/>
                          <a:ea typeface="Arial"/>
                          <a:cs typeface="Arial"/>
                        </a:rPr>
                        <a:t>Separate claims received and recorded</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Excessive polling or retries</a:t>
                      </a:r>
                    </a:p>
                  </a:txBody>
                  <a:tcPr marL="91440" marR="91440" marT="45720" marB="45720">
                    <a:solidFill>
                      <a:srgbClr val="FFFFFF"/>
                    </a:solidFill>
                  </a:tcPr>
                </a:tc>
                <a:tc>
                  <a:txBody>
                    <a:bodyPr/>
                    <a:lstStyle/>
                    <a:p>
                      <a:r>
                        <a:rPr sz="1950" b="0">
                          <a:solidFill>
                            <a:srgbClr val="323131"/>
                          </a:solidFill>
                          <a:latin typeface="Arial"/>
                          <a:ea typeface="Arial"/>
                          <a:cs typeface="Arial"/>
                        </a:rPr>
                        <a:t>Technical limits and retry guidance</a:t>
                      </a:r>
                    </a:p>
                  </a:txBody>
                  <a:tcPr marL="91440" marR="91440" marT="45720" marB="45720">
                    <a:solidFill>
                      <a:srgbClr val="FFFFFF"/>
                    </a:solidFill>
                  </a:tcPr>
                </a:tc>
              </a:tr>
            </a:tbl>
          </a:graphicData>
        </a:graphic>
      </p:graphicFrame>
      <p:sp>
        <p:nvSpPr>
          <p:cNvPr id="3" name="disclosure">
            <a:extLst xmlns:a="http://schemas.openxmlformats.org/drawingml/2006/main">
              <a:ext uri="{FF2B5EF4-FFF2-40B4-BE49-F238E27FC236}">
                <a16:creationId xmlns:a16="http://schemas.microsoft.com/office/drawing/2014/main" id="{696C70CF-DD94-4AA5-B165-D0FBF532AD5F}"/>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4" name="page">
            <a:extLst xmlns:a="http://schemas.openxmlformats.org/drawingml/2006/main">
              <a:ext uri="{FF2B5EF4-FFF2-40B4-BE49-F238E27FC236}">
                <a16:creationId xmlns:a16="http://schemas.microsoft.com/office/drawing/2014/main" id="{B7E6D1A2-3305-4174-9CE0-0F0F5F44C6B7}"/>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5</a:t>
            </a:r>
          </a:p>
        </p:txBody>
      </p:sp>
    </p:spTree>
    <p:extLst>
      <p:ext uri="{BB962C8B-B14F-4D97-AF65-F5344CB8AC3E}">
        <p14:creationId xmlns:p14="http://schemas.microsoft.com/office/powerpoint/2010/main" val="937018581"/>
      </p:ext>
    </p:extLst>
  </p:cSld>
</p:sld>
</file>

<file path=ppt/slides/slide6.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48FB0D-5D9F-42AA-8C13-D95C127C5D96}"/>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Authority gives government direct evidence</a:t>
            </a:r>
          </a:p>
        </p:txBody>
      </p:sp>
      <p:graphicFrame>
        <p:nvGraphicFramePr>
          <p:cNvPr id="2" name="">
            <a:extLst xmlns:a="http://schemas.openxmlformats.org/drawingml/2006/main">
              <a:ext uri="{FF2B5EF4-FFF2-40B4-BE49-F238E27FC236}">
                <a16:creationId xmlns:a16="http://schemas.microsoft.com/office/drawing/2014/main" id="{F0B3C9CF-6422-4781-B7C1-E4713640C542}"/>
              </a:ext>
            </a:extLst>
          </p:cNvPr>
          <p:cNvGraphicFramePr/>
          <p:nvPr/>
        </p:nvGraphicFramePr>
        <p:xfrm>
          <a:off xmlns:a="http://schemas.openxmlformats.org/drawingml/2006/main" x="685800" y="2266950"/>
          <a:ext xmlns:a="http://schemas.openxmlformats.org/drawingml/2006/main" cx="10820400" cy="2590800"/>
        </p:xfrm>
        <a:graphic xmlns:a="http://schemas.openxmlformats.org/drawingml/2006/main">
          <a:graphicData uri="http://schemas.openxmlformats.org/drawingml/2006/table">
            <a:tbl>
              <a:tblPr/>
              <a:tblGrid>
                <a:gridCol w="4000500"/>
                <a:gridCol w="6819900"/>
              </a:tblGrid>
              <a:tr h="647700">
                <a:tc>
                  <a:txBody>
                    <a:bodyPr/>
                    <a:lstStyle/>
                    <a:p>
                      <a:r>
                        <a:rPr sz="1950" b="1">
                          <a:solidFill>
                            <a:srgbClr val="FFFFFF"/>
                          </a:solidFill>
                          <a:latin typeface="Arial"/>
                          <a:ea typeface="Arial"/>
                          <a:cs typeface="Arial"/>
                        </a:rPr>
                        <a:t>Available evidence</a:t>
                      </a:r>
                    </a:p>
                  </a:txBody>
                  <a:tcPr marL="91440" marR="91440" marT="45720" marB="45720">
                    <a:solidFill>
                      <a:srgbClr val="323131"/>
                    </a:solidFill>
                  </a:tcPr>
                </a:tc>
                <a:tc>
                  <a:txBody>
                    <a:bodyPr/>
                    <a:lstStyle/>
                    <a:p>
                      <a:r>
                        <a:rPr sz="1950" b="1">
                          <a:solidFill>
                            <a:srgbClr val="FFFFFF"/>
                          </a:solidFill>
                          <a:latin typeface="Arial"/>
                          <a:ea typeface="Arial"/>
                          <a:cs typeface="Arial"/>
                        </a:rPr>
                        <a:t>Government can establish</a:t>
                      </a:r>
                    </a:p>
                  </a:txBody>
                  <a:tcPr marL="91440" marR="91440" marT="45720" marB="45720">
                    <a:solidFill>
                      <a:srgbClr val="323131"/>
                    </a:solidFill>
                  </a:tcPr>
                </a:tc>
              </a:tr>
              <a:tr h="647700">
                <a:tc>
                  <a:txBody>
                    <a:bodyPr/>
                    <a:lstStyle/>
                    <a:p>
                      <a:r>
                        <a:rPr sz="1950" b="0">
                          <a:solidFill>
                            <a:srgbClr val="323131"/>
                          </a:solidFill>
                          <a:latin typeface="Arial"/>
                          <a:ea typeface="Arial"/>
                          <a:cs typeface="Arial"/>
                        </a:rPr>
                        <a:t>Verified agent and current permission</a:t>
                      </a:r>
                    </a:p>
                  </a:txBody>
                  <a:tcPr marL="91440" marR="91440" marT="45720" marB="45720">
                    <a:solidFill>
                      <a:srgbClr val="FFFFFF"/>
                    </a:solidFill>
                  </a:tcPr>
                </a:tc>
                <a:tc>
                  <a:txBody>
                    <a:bodyPr/>
                    <a:lstStyle/>
                    <a:p>
                      <a:r>
                        <a:rPr sz="1950" b="0">
                          <a:solidFill>
                            <a:srgbClr val="323131"/>
                          </a:solidFill>
                          <a:latin typeface="Arial"/>
                          <a:ea typeface="Arial"/>
                          <a:cs typeface="Arial"/>
                        </a:rPr>
                        <a:t>The registered actor and permitted action</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Self-declared agent name</a:t>
                      </a:r>
                    </a:p>
                  </a:txBody>
                  <a:tcPr marL="91440" marR="91440" marT="45720" marB="45720">
                    <a:solidFill>
                      <a:srgbClr val="FFFFFF"/>
                    </a:solidFill>
                  </a:tcPr>
                </a:tc>
                <a:tc>
                  <a:txBody>
                    <a:bodyPr/>
                    <a:lstStyle/>
                    <a:p>
                      <a:r>
                        <a:rPr sz="1950" b="0">
                          <a:solidFill>
                            <a:srgbClr val="323131"/>
                          </a:solidFill>
                          <a:latin typeface="Arial"/>
                          <a:ea typeface="Arial"/>
                          <a:cs typeface="Arial"/>
                        </a:rPr>
                        <a:t>What the caller claims</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Browser or traffic clues</a:t>
                      </a:r>
                    </a:p>
                  </a:txBody>
                  <a:tcPr marL="91440" marR="91440" marT="45720" marB="45720">
                    <a:solidFill>
                      <a:srgbClr val="FFFFFF"/>
                    </a:solidFill>
                  </a:tcPr>
                </a:tc>
                <a:tc>
                  <a:txBody>
                    <a:bodyPr/>
                    <a:lstStyle/>
                    <a:p>
                      <a:r>
                        <a:rPr sz="1950" b="0">
                          <a:solidFill>
                            <a:srgbClr val="323131"/>
                          </a:solidFill>
                          <a:latin typeface="Arial"/>
                          <a:ea typeface="Arial"/>
                          <a:cs typeface="Arial"/>
                        </a:rPr>
                        <a:t>A judgement with uncertainty</a:t>
                      </a:r>
                    </a:p>
                  </a:txBody>
                  <a:tcPr marL="91440" marR="91440" marT="45720" marB="45720">
                    <a:solidFill>
                      <a:srgbClr val="FFFFFF"/>
                    </a:solidFill>
                  </a:tcPr>
                </a:tc>
              </a:tr>
            </a:tbl>
          </a:graphicData>
        </a:graphic>
      </p:graphicFrame>
      <p:sp>
        <p:nvSpPr>
          <p:cNvPr id="3" name="disclosure">
            <a:extLst xmlns:a="http://schemas.openxmlformats.org/drawingml/2006/main">
              <a:ext uri="{FF2B5EF4-FFF2-40B4-BE49-F238E27FC236}">
                <a16:creationId xmlns:a16="http://schemas.microsoft.com/office/drawing/2014/main" id="{299260D2-0503-4889-A86A-0F257613EEAE}"/>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4" name="page">
            <a:extLst xmlns:a="http://schemas.openxmlformats.org/drawingml/2006/main">
              <a:ext uri="{FF2B5EF4-FFF2-40B4-BE49-F238E27FC236}">
                <a16:creationId xmlns:a16="http://schemas.microsoft.com/office/drawing/2014/main" id="{2EC4AB43-C953-490F-9622-668B5EAF5A1B}"/>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6</a:t>
            </a:r>
          </a:p>
        </p:txBody>
      </p:sp>
    </p:spTree>
    <p:extLst>
      <p:ext uri="{BB962C8B-B14F-4D97-AF65-F5344CB8AC3E}">
        <p14:creationId xmlns:p14="http://schemas.microsoft.com/office/powerpoint/2010/main" val="1191613506"/>
      </p:ext>
    </p:extLst>
  </p:cSld>
</p:sld>
</file>

<file path=ppt/slides/slide7.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8B310BD-C061-44C9-800B-44B40A362176}"/>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Observatory makes the evidence inspectable</a:t>
            </a:r>
          </a:p>
        </p:txBody>
      </p:sp>
      <p:sp>
        <p:nvSpPr>
          <p:cNvPr id="2" name="paragraph-0">
            <a:extLst xmlns:a="http://schemas.openxmlformats.org/drawingml/2006/main">
              <a:ext uri="{FF2B5EF4-FFF2-40B4-BE49-F238E27FC236}">
                <a16:creationId xmlns:a16="http://schemas.microsoft.com/office/drawing/2014/main" id="{D60C85B2-D8F8-4866-9D15-F38F6C9C7AF7}"/>
              </a:ext>
            </a:extLst>
          </p:cNvPr>
          <p:cNvSpPr>
            <a:spLocks xmlns:a="http://schemas.openxmlformats.org/drawingml/2006/main" noGrp="1"/>
          </p:cNvSpPr>
          <p:nvPr/>
        </p:nvSpPr>
        <p:spPr>
          <a:xfrm xmlns:a="http://schemas.openxmlformats.org/drawingml/2006/main">
            <a:off x="685800" y="2266950"/>
            <a:ext cx="4714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23131"/>
                </a:solidFill>
                <a:latin typeface="Arial"/>
                <a:ea typeface="Arial"/>
                <a:cs typeface="Arial"/>
              </a:defRPr>
            </a:defPPr>
          </a:lstStyle>
          <a:p xmlns:a="http://schemas.openxmlformats.org/drawingml/2006/main">
            <a:pPr>
              <a:defRPr sz="2250" b="0">
                <a:solidFill>
                  <a:srgbClr val="323131"/>
                </a:solidFill>
                <a:latin typeface="Arial"/>
                <a:ea typeface="Arial"/>
                <a:cs typeface="Arial"/>
              </a:defRPr>
            </a:pPr>
            <a:r>
              <a:rPr sz="2250" b="0">
                <a:solidFill>
                  <a:srgbClr val="323131"/>
                </a:solidFill>
                <a:latin typeface="Arial"/>
                <a:ea typeface="Arial"/>
                <a:cs typeface="Arial"/>
              </a:rPr>
              <a:t>The event explorer connects service attempts with recorded authority checks and outcomes.</a:t>
            </a:r>
          </a:p>
        </p:txBody>
      </p:sp>
      <p:sp>
        <p:nvSpPr>
          <p:cNvPr id="3" name="paragraph-1">
            <a:extLst xmlns:a="http://schemas.openxmlformats.org/drawingml/2006/main">
              <a:ext uri="{FF2B5EF4-FFF2-40B4-BE49-F238E27FC236}">
                <a16:creationId xmlns:a16="http://schemas.microsoft.com/office/drawing/2014/main" id="{A758B352-BAAB-46D8-A618-611AB62194BA}"/>
              </a:ext>
            </a:extLst>
          </p:cNvPr>
          <p:cNvSpPr>
            <a:spLocks xmlns:a="http://schemas.openxmlformats.org/drawingml/2006/main" noGrp="1"/>
          </p:cNvSpPr>
          <p:nvPr/>
        </p:nvSpPr>
        <p:spPr>
          <a:xfrm xmlns:a="http://schemas.openxmlformats.org/drawingml/2006/main">
            <a:off x="685800" y="3657600"/>
            <a:ext cx="4714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23131"/>
                </a:solidFill>
                <a:latin typeface="Arial"/>
                <a:ea typeface="Arial"/>
                <a:cs typeface="Arial"/>
              </a:defRPr>
            </a:defPPr>
          </a:lstStyle>
          <a:p xmlns:a="http://schemas.openxmlformats.org/drawingml/2006/main">
            <a:pPr>
              <a:defRPr sz="2250" b="0">
                <a:solidFill>
                  <a:srgbClr val="323131"/>
                </a:solidFill>
                <a:latin typeface="Arial"/>
                <a:ea typeface="Arial"/>
                <a:cs typeface="Arial"/>
              </a:defRPr>
            </a:pPr>
            <a:r>
              <a:rPr sz="2250" b="0">
                <a:solidFill>
                  <a:srgbClr val="323131"/>
                </a:solidFill>
                <a:latin typeface="Arial"/>
                <a:ea typeface="Arial"/>
                <a:cs typeface="Arial"/>
              </a:rPr>
              <a:t>Comparing several clues may improve understanding. Sensor coverage and recorded predictions stay visible.</a:t>
            </a:r>
          </a:p>
        </p:txBody>
      </p:sp>
      <p:pic>
        <p:nvPicPr>
          <p:cNvPr id="4" name="">
            <a:extLst xmlns:a="http://schemas.openxmlformats.org/drawingml/2006/main">
              <a:ext uri="{FF2B5EF4-FFF2-40B4-BE49-F238E27FC236}">
                <a16:creationId xmlns:a16="http://schemas.microsoft.com/office/drawing/2014/main" id="{4F861D5E-6C49-49DA-891F-4781978B20AA}"/>
              </a:ext>
            </a:extLst>
          </p:cNvPr>
          <p:cNvPicPr>
            <a:picLocks xmlns:a="http://schemas.openxmlformats.org/drawingml/2006/main" noChangeAspect="1"/>
          </p:cNvPicPr>
          <p:nvPr/>
        </p:nvPicPr>
        <p:blipFill>
          <a:blip xmlns:r="http://schemas.openxmlformats.org/officeDocument/2006/relationships" xmlns:a="http://schemas.openxmlformats.org/drawingml/2006/main" r:embed="Rb312e30a7d634d14"/>
          <a:stretch xmlns:a="http://schemas.openxmlformats.org/drawingml/2006/main"/>
        </p:blipFill>
        <p:spPr>
          <a:xfrm xmlns:a="http://schemas.openxmlformats.org/drawingml/2006/main">
            <a:off x="6948225" y="2095500"/>
            <a:ext cx="3420000" cy="3619500"/>
          </a:xfrm>
          <a:prstGeom xmlns:a="http://schemas.openxmlformats.org/drawingml/2006/main" prst="rect">
            <a:avLst/>
          </a:prstGeom>
        </p:spPr>
      </p:pic>
      <p:sp>
        <p:nvSpPr>
          <p:cNvPr id="5" name="image-provenance">
            <a:extLst xmlns:a="http://schemas.openxmlformats.org/drawingml/2006/main">
              <a:ext uri="{FF2B5EF4-FFF2-40B4-BE49-F238E27FC236}">
                <a16:creationId xmlns:a16="http://schemas.microsoft.com/office/drawing/2014/main" id="{3077D72F-7F72-480B-B8ED-C763A9145A23}"/>
              </a:ext>
            </a:extLst>
          </p:cNvPr>
          <p:cNvSpPr>
            <a:spLocks xmlns:a="http://schemas.openxmlformats.org/drawingml/2006/main" noGrp="1"/>
          </p:cNvSpPr>
          <p:nvPr/>
        </p:nvSpPr>
        <p:spPr>
          <a:xfrm xmlns:a="http://schemas.openxmlformats.org/drawingml/2006/main">
            <a:off x="5810250" y="5829300"/>
            <a:ext cx="569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Review interface, 10 October 2026. PRs 109–110.</a:t>
            </a:r>
          </a:p>
        </p:txBody>
      </p:sp>
      <p:sp>
        <p:nvSpPr>
          <p:cNvPr id="6" name="disclosure">
            <a:extLst xmlns:a="http://schemas.openxmlformats.org/drawingml/2006/main">
              <a:ext uri="{FF2B5EF4-FFF2-40B4-BE49-F238E27FC236}">
                <a16:creationId xmlns:a16="http://schemas.microsoft.com/office/drawing/2014/main" id="{0EE6851B-098F-4F4D-8545-C1CA6677D350}"/>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7" name="page">
            <a:extLst xmlns:a="http://schemas.openxmlformats.org/drawingml/2006/main">
              <a:ext uri="{FF2B5EF4-FFF2-40B4-BE49-F238E27FC236}">
                <a16:creationId xmlns:a16="http://schemas.microsoft.com/office/drawing/2014/main" id="{316EB06E-F63D-41C2-A10E-40E6CBDD3957}"/>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7</a:t>
            </a:r>
          </a:p>
        </p:txBody>
      </p:sp>
    </p:spTree>
    <p:extLst>
      <p:ext uri="{BB962C8B-B14F-4D97-AF65-F5344CB8AC3E}">
        <p14:creationId xmlns:p14="http://schemas.microsoft.com/office/powerpoint/2010/main" val="1237130866"/>
      </p:ext>
    </p:extLst>
  </p:cSld>
</p:sld>
</file>

<file path=ppt/slides/slide8.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59B60C5-FAD3-4E34-A84A-7E9FEC21F2E8}"/>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Independent work appeared alongside this project</a:t>
            </a:r>
          </a:p>
        </p:txBody>
      </p:sp>
      <p:sp>
        <p:nvSpPr>
          <p:cNvPr id="2" name="paragraph-0">
            <a:extLst xmlns:a="http://schemas.openxmlformats.org/drawingml/2006/main">
              <a:ext uri="{FF2B5EF4-FFF2-40B4-BE49-F238E27FC236}">
                <a16:creationId xmlns:a16="http://schemas.microsoft.com/office/drawing/2014/main" id="{ED909F35-4DBE-47C4-AEA3-B0ABA6FDC08F}"/>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Tom Loosemore published WhenIsBins observations on 9 October while Delegate was already underway.</a:t>
            </a:r>
          </a:p>
        </p:txBody>
      </p:sp>
      <p:sp>
        <p:nvSpPr>
          <p:cNvPr id="3" name="paragraph-1">
            <a:extLst xmlns:a="http://schemas.openxmlformats.org/drawingml/2006/main">
              <a:ext uri="{FF2B5EF4-FFF2-40B4-BE49-F238E27FC236}">
                <a16:creationId xmlns:a16="http://schemas.microsoft.com/office/drawing/2014/main" id="{133DC30D-32D3-4143-A535-DCCF486FD053}"/>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He found variable browser clues and agents choosing APIs. Some named themselves when asked.</a:t>
            </a:r>
          </a:p>
        </p:txBody>
      </p:sp>
      <p:sp>
        <p:nvSpPr>
          <p:cNvPr id="4" name="disclosure">
            <a:extLst xmlns:a="http://schemas.openxmlformats.org/drawingml/2006/main">
              <a:ext uri="{FF2B5EF4-FFF2-40B4-BE49-F238E27FC236}">
                <a16:creationId xmlns:a16="http://schemas.microsoft.com/office/drawing/2014/main" id="{6B518220-4787-4C14-8574-49BBCE9C2BD7}"/>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B14A47E1-4218-45D6-BA4F-475533EA97B0}"/>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8</a:t>
            </a:r>
          </a:p>
        </p:txBody>
      </p:sp>
    </p:spTree>
    <p:extLst>
      <p:ext uri="{BB962C8B-B14F-4D97-AF65-F5344CB8AC3E}">
        <p14:creationId xmlns:p14="http://schemas.microsoft.com/office/powerpoint/2010/main" val="105413393"/>
      </p:ext>
    </p:extLst>
  </p:cSld>
</p:sld>
</file>

<file path=ppt/slides/slide9.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439347C-C098-48E5-912D-7F9256C921F0}"/>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The adoption hypothesis</a:t>
            </a:r>
          </a:p>
        </p:txBody>
      </p:sp>
      <p:sp>
        <p:nvSpPr>
          <p:cNvPr id="2" name="paragraph-0">
            <a:extLst xmlns:a="http://schemas.openxmlformats.org/drawingml/2006/main">
              <a:ext uri="{FF2B5EF4-FFF2-40B4-BE49-F238E27FC236}">
                <a16:creationId xmlns:a16="http://schemas.microsoft.com/office/drawing/2014/main" id="{5ADDA217-D831-4E00-8586-6388A3FA1182}"/>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A useful Delegate route could draw most well-behaved agents into identified, authorised activity.</a:t>
            </a:r>
          </a:p>
        </p:txBody>
      </p:sp>
      <p:sp>
        <p:nvSpPr>
          <p:cNvPr id="3" name="paragraph-1">
            <a:extLst xmlns:a="http://schemas.openxmlformats.org/drawingml/2006/main">
              <a:ext uri="{FF2B5EF4-FFF2-40B4-BE49-F238E27FC236}">
                <a16:creationId xmlns:a16="http://schemas.microsoft.com/office/drawing/2014/main" id="{5683C92F-1BEC-4F8A-8E8E-8C91EE921553}"/>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That could substantially reduce Observatory's inference burden and shift effort towards helping people use the route.</a:t>
            </a:r>
          </a:p>
        </p:txBody>
      </p:sp>
      <p:sp>
        <p:nvSpPr>
          <p:cNvPr id="4" name="disclosure">
            <a:extLst xmlns:a="http://schemas.openxmlformats.org/drawingml/2006/main">
              <a:ext uri="{FF2B5EF4-FFF2-40B4-BE49-F238E27FC236}">
                <a16:creationId xmlns:a16="http://schemas.microsoft.com/office/drawing/2014/main" id="{2DD2217E-609B-458C-86AD-80364842F01A}"/>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952DA80B-8890-4E2B-9AEB-9DC1BE2BD868}"/>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9</a:t>
            </a:r>
          </a:p>
        </p:txBody>
      </p:sp>
    </p:spTree>
    <p:extLst>
      <p:ext uri="{BB962C8B-B14F-4D97-AF65-F5344CB8AC3E}">
        <p14:creationId xmlns:p14="http://schemas.microsoft.com/office/powerpoint/2010/main" val="1274276615"/>
      </p:ext>
    </p:extLst>
  </p:cSld>
</p:sld>
</file>

<file path=ppt/slides/slide10.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BDF105-BD3E-4EA4-9B32-449D9A94EA87}"/>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Evidence so far</a:t>
            </a:r>
          </a:p>
        </p:txBody>
      </p:sp>
      <p:graphicFrame>
        <p:nvGraphicFramePr>
          <p:cNvPr id="2" name="">
            <a:extLst xmlns:a="http://schemas.openxmlformats.org/drawingml/2006/main">
              <a:ext uri="{FF2B5EF4-FFF2-40B4-BE49-F238E27FC236}">
                <a16:creationId xmlns:a16="http://schemas.microsoft.com/office/drawing/2014/main" id="{38EB224C-F76F-429A-9B5D-91DB7BB79AE4}"/>
              </a:ext>
            </a:extLst>
          </p:cNvPr>
          <p:cNvGraphicFramePr/>
          <p:nvPr/>
        </p:nvGraphicFramePr>
        <p:xfrm>
          <a:off xmlns:a="http://schemas.openxmlformats.org/drawingml/2006/main" x="685800" y="2266950"/>
          <a:ext xmlns:a="http://schemas.openxmlformats.org/drawingml/2006/main" cx="10820400" cy="3238500"/>
        </p:xfrm>
        <a:graphic xmlns:a="http://schemas.openxmlformats.org/drawingml/2006/main">
          <a:graphicData uri="http://schemas.openxmlformats.org/drawingml/2006/table">
            <a:tbl>
              <a:tblPr/>
              <a:tblGrid>
                <a:gridCol w="4000500"/>
                <a:gridCol w="6819900"/>
              </a:tblGrid>
              <a:tr h="647700">
                <a:tc>
                  <a:txBody>
                    <a:bodyPr/>
                    <a:lstStyle/>
                    <a:p>
                      <a:r>
                        <a:rPr sz="1950" b="1">
                          <a:solidFill>
                            <a:srgbClr val="FFFFFF"/>
                          </a:solidFill>
                          <a:latin typeface="Arial"/>
                          <a:ea typeface="Arial"/>
                          <a:cs typeface="Arial"/>
                        </a:rPr>
                        <a:t>Recorded work</a:t>
                      </a:r>
                    </a:p>
                  </a:txBody>
                  <a:tcPr marL="91440" marR="91440" marT="45720" marB="45720">
                    <a:solidFill>
                      <a:srgbClr val="323131"/>
                    </a:solidFill>
                  </a:tcPr>
                </a:tc>
                <a:tc>
                  <a:txBody>
                    <a:bodyPr/>
                    <a:lstStyle/>
                    <a:p>
                      <a:r>
                        <a:rPr sz="1950" b="1">
                          <a:solidFill>
                            <a:srgbClr val="FFFFFF"/>
                          </a:solidFill>
                          <a:latin typeface="Arial"/>
                          <a:ea typeface="Arial"/>
                          <a:cs typeface="Arial"/>
                        </a:rPr>
                        <a:t>Conclusion supported</a:t>
                      </a:r>
                    </a:p>
                  </a:txBody>
                  <a:tcPr marL="91440" marR="91440" marT="45720" marB="45720">
                    <a:solidFill>
                      <a:srgbClr val="323131"/>
                    </a:solidFill>
                  </a:tcPr>
                </a:tc>
              </a:tr>
              <a:tr h="647700">
                <a:tc>
                  <a:txBody>
                    <a:bodyPr/>
                    <a:lstStyle/>
                    <a:p>
                      <a:r>
                        <a:rPr sz="1950" b="0">
                          <a:solidFill>
                            <a:srgbClr val="323131"/>
                          </a:solidFill>
                          <a:latin typeface="Arial"/>
                          <a:ea typeface="Arial"/>
                          <a:cs typeface="Arial"/>
                        </a:rPr>
                        <a:t>Permission and service regression</a:t>
                      </a:r>
                    </a:p>
                  </a:txBody>
                  <a:tcPr marL="91440" marR="91440" marT="45720" marB="45720">
                    <a:solidFill>
                      <a:srgbClr val="FFFFFF"/>
                    </a:solidFill>
                  </a:tcPr>
                </a:tc>
                <a:tc>
                  <a:txBody>
                    <a:bodyPr/>
                    <a:lstStyle/>
                    <a:p>
                      <a:r>
                        <a:rPr sz="1950" b="0">
                          <a:solidFill>
                            <a:srgbClr val="323131"/>
                          </a:solidFill>
                          <a:latin typeface="Arial"/>
                          <a:ea typeface="Arial"/>
                          <a:cs typeface="Arial"/>
                        </a:rPr>
                        <a:t>Specific synthetic behaviours work</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Matched service-local / Delegate comparison</a:t>
                      </a:r>
                    </a:p>
                  </a:txBody>
                  <a:tcPr marL="91440" marR="91440" marT="45720" marB="45720">
                    <a:solidFill>
                      <a:srgbClr val="FFFFFF"/>
                    </a:solidFill>
                  </a:tcPr>
                </a:tc>
                <a:tc>
                  <a:txBody>
                    <a:bodyPr/>
                    <a:lstStyle/>
                    <a:p>
                      <a:r>
                        <a:rPr sz="1950" b="0">
                          <a:solidFill>
                            <a:srgbClr val="323131"/>
                          </a:solidFill>
                          <a:latin typeface="Arial"/>
                          <a:ea typeface="Arial"/>
                          <a:cs typeface="Arial"/>
                        </a:rPr>
                        <a:t>Equal outcomes for the fixed workload</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Scripted ledger replay</a:t>
                      </a:r>
                    </a:p>
                  </a:txBody>
                  <a:tcPr marL="91440" marR="91440" marT="45720" marB="45720">
                    <a:solidFill>
                      <a:srgbClr val="FFFFFF"/>
                    </a:solidFill>
                  </a:tcPr>
                </a:tc>
                <a:tc>
                  <a:txBody>
                    <a:bodyPr/>
                    <a:lstStyle/>
                    <a:p>
                      <a:r>
                        <a:rPr sz="1950" b="0">
                          <a:solidFill>
                            <a:srgbClr val="323131"/>
                          </a:solidFill>
                          <a:latin typeface="Arial"/>
                          <a:ea typeface="Arial"/>
                          <a:cs typeface="Arial"/>
                        </a:rPr>
                        <a:t>Trace collection can be audited</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Genuine participant research</a:t>
                      </a:r>
                    </a:p>
                  </a:txBody>
                  <a:tcPr marL="91440" marR="91440" marT="45720" marB="45720">
                    <a:solidFill>
                      <a:srgbClr val="FFFFFF"/>
                    </a:solidFill>
                  </a:tcPr>
                </a:tc>
                <a:tc>
                  <a:txBody>
                    <a:bodyPr/>
                    <a:lstStyle/>
                    <a:p>
                      <a:r>
                        <a:rPr sz="1950" b="0">
                          <a:solidFill>
                            <a:srgbClr val="323131"/>
                          </a:solidFill>
                          <a:latin typeface="Arial"/>
                          <a:ea typeface="Arial"/>
                          <a:cs typeface="Arial"/>
                        </a:rPr>
                        <a:t>Still outstanding</a:t>
                      </a:r>
                    </a:p>
                  </a:txBody>
                  <a:tcPr marL="91440" marR="91440" marT="45720" marB="45720">
                    <a:solidFill>
                      <a:srgbClr val="FFFFFF"/>
                    </a:solidFill>
                  </a:tcPr>
                </a:tc>
              </a:tr>
            </a:tbl>
          </a:graphicData>
        </a:graphic>
      </p:graphicFrame>
      <p:sp>
        <p:nvSpPr>
          <p:cNvPr id="3" name="disclosure">
            <a:extLst xmlns:a="http://schemas.openxmlformats.org/drawingml/2006/main">
              <a:ext uri="{FF2B5EF4-FFF2-40B4-BE49-F238E27FC236}">
                <a16:creationId xmlns:a16="http://schemas.microsoft.com/office/drawing/2014/main" id="{58C7A03B-E9DD-42D8-A42D-7A40E9F2CB2F}"/>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4" name="page">
            <a:extLst xmlns:a="http://schemas.openxmlformats.org/drawingml/2006/main">
              <a:ext uri="{FF2B5EF4-FFF2-40B4-BE49-F238E27FC236}">
                <a16:creationId xmlns:a16="http://schemas.microsoft.com/office/drawing/2014/main" id="{350A93D3-FBCA-4430-81B7-713BB7CCCB9B}"/>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10</a:t>
            </a:r>
          </a:p>
        </p:txBody>
      </p:sp>
    </p:spTree>
    <p:extLst>
      <p:ext uri="{BB962C8B-B14F-4D97-AF65-F5344CB8AC3E}">
        <p14:creationId xmlns:p14="http://schemas.microsoft.com/office/powerpoint/2010/main" val="820077050"/>
      </p:ext>
    </p:extLst>
  </p:cSld>
</p:sld>
</file>

<file path=ppt/slides/slide11.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FA75BF-E449-4284-93E1-6C9512BCDC2F}"/>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Discussion</a:t>
            </a:r>
          </a:p>
        </p:txBody>
      </p:sp>
      <p:sp>
        <p:nvSpPr>
          <p:cNvPr id="2" name="paragraph-0">
            <a:extLst xmlns:a="http://schemas.openxmlformats.org/drawingml/2006/main">
              <a:ext uri="{FF2B5EF4-FFF2-40B4-BE49-F238E27FC236}">
                <a16:creationId xmlns:a16="http://schemas.microsoft.com/office/drawing/2014/main" id="{3CD8AC0D-6766-4412-9689-EAF64E5319FE}"/>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Could you use this demonstration to explain delegated agent access to a service team?</a:t>
            </a:r>
          </a:p>
        </p:txBody>
      </p:sp>
      <p:sp>
        <p:nvSpPr>
          <p:cNvPr id="3" name="paragraph-1">
            <a:extLst xmlns:a="http://schemas.openxmlformats.org/drawingml/2006/main">
              <a:ext uri="{FF2B5EF4-FFF2-40B4-BE49-F238E27FC236}">
                <a16:creationId xmlns:a16="http://schemas.microsoft.com/office/drawing/2014/main" id="{7D60AD58-04E8-4EFF-BC9A-BB85713680D7}"/>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Which citizen task would make the next experiment useful, and which department could help test it?</a:t>
            </a:r>
          </a:p>
        </p:txBody>
      </p:sp>
      <p:sp>
        <p:nvSpPr>
          <p:cNvPr id="4" name="disclosure">
            <a:extLst xmlns:a="http://schemas.openxmlformats.org/drawingml/2006/main">
              <a:ext uri="{FF2B5EF4-FFF2-40B4-BE49-F238E27FC236}">
                <a16:creationId xmlns:a16="http://schemas.microsoft.com/office/drawing/2014/main" id="{82412673-7661-4547-B085-4D5A83971640}"/>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3609CF63-A5D8-40EF-ACA2-88D536063A5D}"/>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11</a:t>
            </a:r>
          </a:p>
        </p:txBody>
      </p:sp>
    </p:spTree>
    <p:extLst>
      <p:ext uri="{BB962C8B-B14F-4D97-AF65-F5344CB8AC3E}">
        <p14:creationId xmlns:p14="http://schemas.microsoft.com/office/powerpoint/2010/main" val="2047178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2026-10-10T14:44:19.7810000Z</dcterms:created>
  <dcterms:modified xsi:type="dcterms:W3CDTF">2026-10-10T14:44:19.7810000Z</dcterms:modified>
</coreProperties>
</file>